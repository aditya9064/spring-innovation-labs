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problem, not the product. Crime data is abundant — 60-plus months of open police records — but 7,264 MSOAs go unanalyzed weekly. A defensible regional risk brief takes hours. And the people who need the answer aren't statisticians. We're CrimeScope — six engineers tackling that gap.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harder facts to drive it home: most UK insurers don't yet have postcode-grain intelligence in their underwriting flow, and manual review delays decisions by hours per quote. There's a concrete bottleneck and a concrete cost.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an explainable regional risk platform. Features on the left — five verbs, full UK coverage, native iOS, open data, SHAP drivers. Benefits on the right — one tap, plain English, auditable math, sub-second speed, honest about uncertainty.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lanes. Databricks does the heavy lifting once — ingest, train, export JSON. FastAPI loads those JSONs and serves six endpoints with sub-second latency. The iOS app is pure SwiftUI with zero third-party SDKs. The tunnel is just for the demo.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open sources flow into one MSOA-month panel — 87,000 rows across 7,264 regions. Time-aware split prevents future leakage. The panel feeds six API endpoints. Everything reproducible from open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 pause for a beat, then go straight into the live demo. This is your transition into the wow moment.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Roughly 75 seconds of screen recording. Don't talk over it — let it breathe. Suggested flow: open app on UK by default, tap a London MSOA, scroll the region sheet showing all five cards, expand trust details, switch persona, tap Compare, pick a second region, show the side-by-side. After it ends: 'Here's what's actually under that.'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 metrics. Spearman 0.71 against next-30-day incidents. Top-decile precision at 0.83 — when we say a region is high-risk, we're right 83% of the time. ECE of 0.04 means the model is well-calibrated. Plus 12% lift over the rolling-mean baseline. Important honesty note: these come from a Chicago hold-out — the UK MSOA re-evaluation is in progress. We surface that directly in the Trust Passport in the app.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this scales. Other countries — the backend already supports Chicago tracts. Higher resolution — UK LSOA at 35,000 regions is ready. Other personas — six built in. Other surfaces — same API powers a web client too. Nothing about the architecture is UK-specific.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data, two industries. For an insurer: City of London 001 becomes a 21.8% premium surcharge with a named ML driver. For a real-estate analyst: same MSOA reads as moderate downward pricing pressure with a robbery-trend diligence flag. The persona is a UI lens — backend is identical. That's how it generalizes.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analyst-day to produce one defensible regional brief — about $400. CrimeScope produces it instantly for pennies. For full UK coverage, that's $2.9 million of analyst time saved per sweep. The bar chart on the right is the punchline: 8,000 times cheaper per brief, and it's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Sandwich the problem at the close. Repeat the four bullets so judges leave with the gap front-of-mind. Thank the MAIC mentors and the Xorbix sponsor by name — replace the placeholders with your real mentor names. Then close.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slide — academic credibility. Mention LightGBM and SHAP papers if a judge asks why those choices.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 pricing math walk-through for Q&amp;A. The formula is one line. Every contribution is named so an underwriter can defend the premium in writing. The driver list comes from the same SHAP values that power the Explain card.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 six trust commitments. Use this slide if a judge asks 'how do you avoid being a black box?' or 'how do you avoid harm?' Every one of these ships in the live app today.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 full stack. Use this if a judge asks 'what did you actually build with?' Highlight the zero-third-party-SDKs point — we own every line of code in the iOS app.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4114800" cy="502920"/>
          </a:xfrm>
          <a:prstGeom prst="rect">
            <a:avLst/>
          </a:prstGeom>
          <a:noFill/>
        </p:spPr>
        <p:txBody>
          <a:bodyPr wrap="square" lIns="0" rIns="0" tIns="0" bIns="0" anchor="t">
            <a:spAutoFit/>
          </a:bodyPr>
          <a:lstStyle/>
          <a:p>
            <a:pPr algn="l"/>
            <a:r>
              <a:rPr sz="3200" b="1" i="0">
                <a:solidFill>
                  <a:srgbClr val="0F1429"/>
                </a:solidFill>
                <a:latin typeface="Calibri"/>
              </a:rPr>
              <a:t>Problem</a:t>
            </a:r>
          </a:p>
        </p:txBody>
      </p:sp>
      <p:cxnSp>
        <p:nvCxnSpPr>
          <p:cNvPr id="3" name="Connector 2"/>
          <p:cNvCxnSpPr/>
          <p:nvPr/>
        </p:nvCxnSpPr>
        <p:spPr>
          <a:xfrm>
            <a:off x="640080" y="1097280"/>
            <a:ext cx="914400" cy="0"/>
          </a:xfrm>
          <a:prstGeom prst="line">
            <a:avLst/>
          </a:prstGeom>
          <a:ln w="31750">
            <a:solidFill>
              <a:srgbClr val="6D28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1371600"/>
            <a:ext cx="6583680" cy="4114800"/>
          </a:xfrm>
          <a:prstGeom prst="rect">
            <a:avLst/>
          </a:prstGeom>
          <a:noFill/>
        </p:spPr>
        <p:txBody>
          <a:bodyPr wrap="square" lIns="0" rIns="0" tIns="0" bIns="0" anchor="t">
            <a:spAutoFit/>
          </a:bodyPr>
          <a:lstStyle/>
          <a:p>
            <a:pPr algn="l">
              <a:lnSpc>
                <a:spcPct val="130000"/>
              </a:lnSpc>
            </a:pPr>
            <a:r>
              <a:rPr sz="1800" b="1" i="0">
                <a:solidFill>
                  <a:srgbClr val="6D28D9"/>
                </a:solidFill>
                <a:latin typeface="Calibri"/>
              </a:rPr>
              <a:t>•  </a:t>
            </a:r>
            <a:r>
              <a:rPr sz="1800" b="0" i="0">
                <a:solidFill>
                  <a:srgbClr val="333340"/>
                </a:solidFill>
                <a:latin typeface="Calibri"/>
              </a:rPr>
              <a:t>Crime data is abundant — England &amp; Wales has 60+ months of open data.police.uk records.</a:t>
            </a:r>
          </a:p>
          <a:p>
            <a:pPr algn="l">
              <a:lnSpc>
                <a:spcPct val="130000"/>
              </a:lnSpc>
            </a:pPr>
            <a:r>
              <a:rPr sz="1800" b="1" i="0">
                <a:solidFill>
                  <a:srgbClr val="6D28D9"/>
                </a:solidFill>
                <a:latin typeface="Calibri"/>
              </a:rPr>
              <a:t>•  </a:t>
            </a:r>
            <a:r>
              <a:rPr sz="1800" b="0" i="0">
                <a:solidFill>
                  <a:srgbClr val="333340"/>
                </a:solidFill>
                <a:latin typeface="Calibri"/>
              </a:rPr>
              <a:t>But 7,264 MSOAs go unanalyzed weekly — the bandwidth doesn't exist.</a:t>
            </a:r>
          </a:p>
          <a:p>
            <a:pPr algn="l">
              <a:lnSpc>
                <a:spcPct val="130000"/>
              </a:lnSpc>
            </a:pPr>
            <a:r>
              <a:rPr sz="1800" b="1" i="0">
                <a:solidFill>
                  <a:srgbClr val="6D28D9"/>
                </a:solidFill>
                <a:latin typeface="Calibri"/>
              </a:rPr>
              <a:t>•  </a:t>
            </a:r>
            <a:r>
              <a:rPr sz="1800" b="0" i="0">
                <a:solidFill>
                  <a:srgbClr val="333340"/>
                </a:solidFill>
                <a:latin typeface="Calibri"/>
              </a:rPr>
              <a:t>A defensible, plain-English regional risk brief takes hours of analyst time today.</a:t>
            </a:r>
          </a:p>
          <a:p>
            <a:pPr algn="l">
              <a:lnSpc>
                <a:spcPct val="130000"/>
              </a:lnSpc>
            </a:pPr>
            <a:r>
              <a:rPr sz="1800" b="1" i="0">
                <a:solidFill>
                  <a:srgbClr val="6D28D9"/>
                </a:solidFill>
                <a:latin typeface="Calibri"/>
              </a:rPr>
              <a:t>•  </a:t>
            </a:r>
            <a:r>
              <a:rPr sz="1800" b="0" i="0">
                <a:solidFill>
                  <a:srgbClr val="333340"/>
                </a:solidFill>
                <a:latin typeface="Calibri"/>
              </a:rPr>
              <a:t>Insurance, real-estate and public-safety decision-makers are non-experts — they need answers, not statistics.</a:t>
            </a:r>
          </a:p>
        </p:txBody>
      </p:sp>
      <p:sp>
        <p:nvSpPr>
          <p:cNvPr id="5" name="Rectangle 4"/>
          <p:cNvSpPr/>
          <p:nvPr/>
        </p:nvSpPr>
        <p:spPr>
          <a:xfrm>
            <a:off x="0" y="5074920"/>
            <a:ext cx="12191695" cy="3657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166360"/>
            <a:ext cx="10911535" cy="822960"/>
          </a:xfrm>
          <a:prstGeom prst="rect">
            <a:avLst/>
          </a:prstGeom>
          <a:noFill/>
        </p:spPr>
        <p:txBody>
          <a:bodyPr wrap="square" lIns="0" rIns="0" tIns="0" bIns="0" anchor="t">
            <a:spAutoFit/>
          </a:bodyPr>
          <a:lstStyle/>
          <a:p>
            <a:pPr algn="l"/>
            <a:r>
              <a:rPr sz="6400" b="1" i="0">
                <a:solidFill>
                  <a:srgbClr val="0F1429"/>
                </a:solidFill>
                <a:latin typeface="Calibri"/>
              </a:rPr>
              <a:t>CrimeScope</a:t>
            </a:r>
          </a:p>
        </p:txBody>
      </p:sp>
      <p:sp>
        <p:nvSpPr>
          <p:cNvPr id="7" name="TextBox 6"/>
          <p:cNvSpPr txBox="1"/>
          <p:nvPr/>
        </p:nvSpPr>
        <p:spPr>
          <a:xfrm>
            <a:off x="640080" y="5897880"/>
            <a:ext cx="10911535" cy="365760"/>
          </a:xfrm>
          <a:prstGeom prst="rect">
            <a:avLst/>
          </a:prstGeom>
          <a:noFill/>
        </p:spPr>
        <p:txBody>
          <a:bodyPr wrap="square" lIns="0" rIns="0" tIns="0" bIns="0" anchor="t">
            <a:spAutoFit/>
          </a:bodyPr>
          <a:lstStyle/>
          <a:p>
            <a:pPr algn="l"/>
            <a:r>
              <a:rPr sz="1400" b="0" i="0">
                <a:solidFill>
                  <a:srgbClr val="333340"/>
                </a:solidFill>
                <a:latin typeface="Calibri"/>
              </a:rPr>
              <a:t>Aditya Miriyala  ·  Shritej Gunda  ·  Yukta Koganti  ·  Koushik Cherukuri  ·  Khushal Lingamaneni  ·  Thanvi Gorrepati</a:t>
            </a:r>
          </a:p>
        </p:txBody>
      </p:sp>
      <p:sp>
        <p:nvSpPr>
          <p:cNvPr id="8" name="TextBox 7"/>
          <p:cNvSpPr txBox="1"/>
          <p:nvPr/>
        </p:nvSpPr>
        <p:spPr>
          <a:xfrm>
            <a:off x="11094415" y="6492240"/>
            <a:ext cx="457200" cy="274320"/>
          </a:xfrm>
          <a:prstGeom prst="rect">
            <a:avLst/>
          </a:prstGeom>
          <a:noFill/>
        </p:spPr>
        <p:txBody>
          <a:bodyPr wrap="square" lIns="0" rIns="0" tIns="0" bIns="0" anchor="t">
            <a:spAutoFit/>
          </a:bodyPr>
          <a:lstStyle/>
          <a:p>
            <a:pPr algn="r"/>
            <a:r>
              <a:rPr sz="1000" b="0" i="1">
                <a:solidFill>
                  <a:srgbClr val="808090"/>
                </a:solidFill>
                <a:latin typeface="Calibri"/>
              </a:rPr>
              <a:t>-- 1 of 16 --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640080"/>
          </a:xfrm>
          <a:prstGeom prst="rect">
            <a:avLst/>
          </a:prstGeom>
          <a:noFill/>
        </p:spPr>
        <p:txBody>
          <a:bodyPr wrap="square" lIns="0" rIns="0" tIns="0" bIns="0" anchor="t">
            <a:spAutoFit/>
          </a:bodyPr>
          <a:lstStyle/>
          <a:p>
            <a:pPr algn="l"/>
            <a:r>
              <a:rPr sz="3200" b="1" i="0">
                <a:solidFill>
                  <a:srgbClr val="0F1429"/>
                </a:solidFill>
                <a:latin typeface="Calibri"/>
              </a:rPr>
              <a:t>Problem</a:t>
            </a:r>
          </a:p>
        </p:txBody>
      </p:sp>
      <p:cxnSp>
        <p:nvCxnSpPr>
          <p:cNvPr id="3" name="Connector 2"/>
          <p:cNvCxnSpPr/>
          <p:nvPr/>
        </p:nvCxnSpPr>
        <p:spPr>
          <a:xfrm>
            <a:off x="640080" y="1216152"/>
            <a:ext cx="1280159" cy="0"/>
          </a:xfrm>
          <a:prstGeom prst="line">
            <a:avLst/>
          </a:prstGeom>
          <a:ln w="31750">
            <a:solidFill>
              <a:srgbClr val="6D28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2959" y="1783080"/>
            <a:ext cx="10545775" cy="4572000"/>
          </a:xfrm>
          <a:prstGeom prst="rect">
            <a:avLst/>
          </a:prstGeom>
          <a:noFill/>
        </p:spPr>
        <p:txBody>
          <a:bodyPr wrap="square" lIns="0" rIns="0" tIns="0" bIns="0" anchor="t">
            <a:spAutoFit/>
          </a:bodyPr>
          <a:lstStyle/>
          <a:p>
            <a:pPr algn="l">
              <a:lnSpc>
                <a:spcPct val="160000"/>
              </a:lnSpc>
            </a:pPr>
            <a:r>
              <a:rPr sz="2200" b="1" i="0">
                <a:solidFill>
                  <a:srgbClr val="6D28D9"/>
                </a:solidFill>
                <a:latin typeface="Calibri"/>
              </a:rPr>
              <a:t>•  </a:t>
            </a:r>
            <a:r>
              <a:rPr sz="2200" b="0" i="0">
                <a:solidFill>
                  <a:srgbClr val="333340"/>
                </a:solidFill>
                <a:latin typeface="Calibri"/>
              </a:rPr>
              <a:t>Only ~1% of UK insurers cite postcode-grain crime intelligence in their underwriting workflow.</a:t>
            </a:r>
          </a:p>
          <a:p>
            <a:pPr algn="l">
              <a:lnSpc>
                <a:spcPct val="160000"/>
              </a:lnSpc>
            </a:pPr>
            <a:r>
              <a:rPr sz="2200" b="1" i="0">
                <a:solidFill>
                  <a:srgbClr val="6D28D9"/>
                </a:solidFill>
                <a:latin typeface="Calibri"/>
              </a:rPr>
              <a:t>•  </a:t>
            </a:r>
            <a:r>
              <a:rPr sz="2200" b="0" i="0">
                <a:solidFill>
                  <a:srgbClr val="333340"/>
                </a:solidFill>
                <a:latin typeface="Calibri"/>
              </a:rPr>
              <a:t>Manual neighborhood-risk review delays real-estate and underwriting decisions by hours per quote.</a:t>
            </a:r>
          </a:p>
        </p:txBody>
      </p:sp>
      <p:sp>
        <p:nvSpPr>
          <p:cNvPr id="5" name="TextBox 4"/>
          <p:cNvSpPr txBox="1"/>
          <p:nvPr/>
        </p:nvSpPr>
        <p:spPr>
          <a:xfrm>
            <a:off x="11094415" y="6492240"/>
            <a:ext cx="457200" cy="274320"/>
          </a:xfrm>
          <a:prstGeom prst="rect">
            <a:avLst/>
          </a:prstGeom>
          <a:noFill/>
        </p:spPr>
        <p:txBody>
          <a:bodyPr wrap="square" lIns="0" rIns="0" tIns="0" bIns="0" anchor="t">
            <a:spAutoFit/>
          </a:bodyPr>
          <a:lstStyle/>
          <a:p>
            <a:pPr algn="r"/>
            <a:r>
              <a:rPr sz="1000" b="0" i="1">
                <a:solidFill>
                  <a:srgbClr val="808090"/>
                </a:solidFill>
                <a:latin typeface="Calibri"/>
              </a:rPr>
              <a:t>-- 2 of 16 --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640080"/>
          </a:xfrm>
          <a:prstGeom prst="rect">
            <a:avLst/>
          </a:prstGeom>
          <a:noFill/>
        </p:spPr>
        <p:txBody>
          <a:bodyPr wrap="square" lIns="0" rIns="0" tIns="0" bIns="0" anchor="t">
            <a:spAutoFit/>
          </a:bodyPr>
          <a:lstStyle/>
          <a:p>
            <a:pPr algn="l"/>
            <a:r>
              <a:rPr sz="3200" b="1" i="0">
                <a:solidFill>
                  <a:srgbClr val="0F1429"/>
                </a:solidFill>
                <a:latin typeface="Calibri"/>
              </a:rPr>
              <a:t>Explainable Regional Risk Platform</a:t>
            </a:r>
          </a:p>
        </p:txBody>
      </p:sp>
      <p:cxnSp>
        <p:nvCxnSpPr>
          <p:cNvPr id="3" name="Connector 2"/>
          <p:cNvCxnSpPr/>
          <p:nvPr/>
        </p:nvCxnSpPr>
        <p:spPr>
          <a:xfrm>
            <a:off x="640080" y="1216152"/>
            <a:ext cx="1280159" cy="0"/>
          </a:xfrm>
          <a:prstGeom prst="line">
            <a:avLst/>
          </a:prstGeom>
          <a:ln w="31750">
            <a:solidFill>
              <a:srgbClr val="6D28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1600200"/>
            <a:ext cx="5181447" cy="365760"/>
          </a:xfrm>
          <a:prstGeom prst="rect">
            <a:avLst/>
          </a:prstGeom>
          <a:noFill/>
        </p:spPr>
        <p:txBody>
          <a:bodyPr wrap="square" lIns="0" rIns="0" tIns="0" bIns="0" anchor="t">
            <a:spAutoFit/>
          </a:bodyPr>
          <a:lstStyle/>
          <a:p>
            <a:pPr algn="l"/>
            <a:r>
              <a:rPr sz="2200" b="1" i="0">
                <a:solidFill>
                  <a:srgbClr val="4C1D95"/>
                </a:solidFill>
                <a:latin typeface="Calibri"/>
              </a:rPr>
              <a:t>Features</a:t>
            </a:r>
          </a:p>
        </p:txBody>
      </p:sp>
      <p:sp>
        <p:nvSpPr>
          <p:cNvPr id="5" name="TextBox 4"/>
          <p:cNvSpPr txBox="1"/>
          <p:nvPr/>
        </p:nvSpPr>
        <p:spPr>
          <a:xfrm>
            <a:off x="640080" y="2103120"/>
            <a:ext cx="5181447" cy="3657600"/>
          </a:xfrm>
          <a:prstGeom prst="rect">
            <a:avLst/>
          </a:prstGeom>
          <a:noFill/>
        </p:spPr>
        <p:txBody>
          <a:bodyPr wrap="square" lIns="0" rIns="0" tIns="0" bIns="0" anchor="t">
            <a:spAutoFit/>
          </a:bodyPr>
          <a:lstStyle/>
          <a:p>
            <a:pPr algn="l">
              <a:lnSpc>
                <a:spcPct val="130000"/>
              </a:lnSpc>
            </a:pPr>
            <a:r>
              <a:rPr sz="1800" b="1" i="0">
                <a:solidFill>
                  <a:srgbClr val="6D28D9"/>
                </a:solidFill>
                <a:latin typeface="Calibri"/>
              </a:rPr>
              <a:t>•  </a:t>
            </a:r>
            <a:r>
              <a:rPr sz="1800" b="0" i="0">
                <a:solidFill>
                  <a:srgbClr val="333340"/>
                </a:solidFill>
                <a:latin typeface="Calibri"/>
              </a:rPr>
              <a:t>Score · Explain · Project · Compare · Price</a:t>
            </a:r>
          </a:p>
          <a:p>
            <a:pPr algn="l">
              <a:lnSpc>
                <a:spcPct val="130000"/>
              </a:lnSpc>
            </a:pPr>
            <a:r>
              <a:rPr sz="1800" b="1" i="0">
                <a:solidFill>
                  <a:srgbClr val="6D28D9"/>
                </a:solidFill>
                <a:latin typeface="Calibri"/>
              </a:rPr>
              <a:t>•  </a:t>
            </a:r>
            <a:r>
              <a:rPr sz="1800" b="0" i="0">
                <a:solidFill>
                  <a:srgbClr val="333340"/>
                </a:solidFill>
                <a:latin typeface="Calibri"/>
              </a:rPr>
              <a:t>7,264 MSOAs covered — all of England &amp; Wales</a:t>
            </a:r>
          </a:p>
          <a:p>
            <a:pPr algn="l">
              <a:lnSpc>
                <a:spcPct val="130000"/>
              </a:lnSpc>
            </a:pPr>
            <a:r>
              <a:rPr sz="1800" b="1" i="0">
                <a:solidFill>
                  <a:srgbClr val="6D28D9"/>
                </a:solidFill>
                <a:latin typeface="Calibri"/>
              </a:rPr>
              <a:t>•  </a:t>
            </a:r>
            <a:r>
              <a:rPr sz="1800" b="0" i="0">
                <a:solidFill>
                  <a:srgbClr val="333340"/>
                </a:solidFill>
                <a:latin typeface="Calibri"/>
              </a:rPr>
              <a:t>Native iOS app + FastAPI backend</a:t>
            </a:r>
          </a:p>
          <a:p>
            <a:pPr algn="l">
              <a:lnSpc>
                <a:spcPct val="130000"/>
              </a:lnSpc>
            </a:pPr>
            <a:r>
              <a:rPr sz="1800" b="1" i="0">
                <a:solidFill>
                  <a:srgbClr val="6D28D9"/>
                </a:solidFill>
                <a:latin typeface="Calibri"/>
              </a:rPr>
              <a:t>•  </a:t>
            </a:r>
            <a:r>
              <a:rPr sz="1800" b="0" i="0">
                <a:solidFill>
                  <a:srgbClr val="333340"/>
                </a:solidFill>
                <a:latin typeface="Calibri"/>
              </a:rPr>
              <a:t>Open public data: police.uk · ONS · IMD/WIMD</a:t>
            </a:r>
          </a:p>
          <a:p>
            <a:pPr algn="l">
              <a:lnSpc>
                <a:spcPct val="130000"/>
              </a:lnSpc>
            </a:pPr>
            <a:r>
              <a:rPr sz="1800" b="1" i="0">
                <a:solidFill>
                  <a:srgbClr val="6D28D9"/>
                </a:solidFill>
                <a:latin typeface="Calibri"/>
              </a:rPr>
              <a:t>•  </a:t>
            </a:r>
            <a:r>
              <a:rPr sz="1800" b="0" i="0">
                <a:solidFill>
                  <a:srgbClr val="333340"/>
                </a:solidFill>
                <a:latin typeface="Calibri"/>
              </a:rPr>
              <a:t>Per-region SHAP drivers in plain English</a:t>
            </a:r>
          </a:p>
        </p:txBody>
      </p:sp>
      <p:sp>
        <p:nvSpPr>
          <p:cNvPr id="6" name="TextBox 5"/>
          <p:cNvSpPr txBox="1"/>
          <p:nvPr/>
        </p:nvSpPr>
        <p:spPr>
          <a:xfrm>
            <a:off x="6370167" y="1600200"/>
            <a:ext cx="5181447" cy="365760"/>
          </a:xfrm>
          <a:prstGeom prst="rect">
            <a:avLst/>
          </a:prstGeom>
          <a:noFill/>
        </p:spPr>
        <p:txBody>
          <a:bodyPr wrap="square" lIns="0" rIns="0" tIns="0" bIns="0" anchor="t">
            <a:spAutoFit/>
          </a:bodyPr>
          <a:lstStyle/>
          <a:p>
            <a:pPr algn="l"/>
            <a:r>
              <a:rPr sz="2200" b="1" i="0">
                <a:solidFill>
                  <a:srgbClr val="4C1D95"/>
                </a:solidFill>
                <a:latin typeface="Calibri"/>
              </a:rPr>
              <a:t>Benefits</a:t>
            </a:r>
          </a:p>
        </p:txBody>
      </p:sp>
      <p:sp>
        <p:nvSpPr>
          <p:cNvPr id="7" name="TextBox 6"/>
          <p:cNvSpPr txBox="1"/>
          <p:nvPr/>
        </p:nvSpPr>
        <p:spPr>
          <a:xfrm>
            <a:off x="6370167" y="2103120"/>
            <a:ext cx="5181447" cy="3657600"/>
          </a:xfrm>
          <a:prstGeom prst="rect">
            <a:avLst/>
          </a:prstGeom>
          <a:noFill/>
        </p:spPr>
        <p:txBody>
          <a:bodyPr wrap="square" lIns="0" rIns="0" tIns="0" bIns="0" anchor="t">
            <a:spAutoFit/>
          </a:bodyPr>
          <a:lstStyle/>
          <a:p>
            <a:pPr algn="l">
              <a:lnSpc>
                <a:spcPct val="130000"/>
              </a:lnSpc>
            </a:pPr>
            <a:r>
              <a:rPr sz="1800" b="1" i="0">
                <a:solidFill>
                  <a:srgbClr val="6D28D9"/>
                </a:solidFill>
                <a:latin typeface="Calibri"/>
              </a:rPr>
              <a:t>•  </a:t>
            </a:r>
            <a:r>
              <a:rPr sz="1800" b="0" i="0">
                <a:solidFill>
                  <a:srgbClr val="333340"/>
                </a:solidFill>
                <a:latin typeface="Calibri"/>
              </a:rPr>
              <a:t>One-tap risk assessment for any UK postcode</a:t>
            </a:r>
          </a:p>
          <a:p>
            <a:pPr algn="l">
              <a:lnSpc>
                <a:spcPct val="130000"/>
              </a:lnSpc>
            </a:pPr>
            <a:r>
              <a:rPr sz="1800" b="1" i="0">
                <a:solidFill>
                  <a:srgbClr val="6D28D9"/>
                </a:solidFill>
                <a:latin typeface="Calibri"/>
              </a:rPr>
              <a:t>•  </a:t>
            </a:r>
            <a:r>
              <a:rPr sz="1800" b="0" i="0">
                <a:solidFill>
                  <a:srgbClr val="333340"/>
                </a:solidFill>
                <a:latin typeface="Calibri"/>
              </a:rPr>
              <a:t>Plain-English answer — no statistics expertise needed</a:t>
            </a:r>
          </a:p>
          <a:p>
            <a:pPr algn="l">
              <a:lnSpc>
                <a:spcPct val="130000"/>
              </a:lnSpc>
            </a:pPr>
            <a:r>
              <a:rPr sz="1800" b="1" i="0">
                <a:solidFill>
                  <a:srgbClr val="6D28D9"/>
                </a:solidFill>
                <a:latin typeface="Calibri"/>
              </a:rPr>
              <a:t>•  </a:t>
            </a:r>
            <a:r>
              <a:rPr sz="1800" b="0" i="0">
                <a:solidFill>
                  <a:srgbClr val="333340"/>
                </a:solidFill>
                <a:latin typeface="Calibri"/>
              </a:rPr>
              <a:t>Auditable pricing math — defensible in writing</a:t>
            </a:r>
          </a:p>
          <a:p>
            <a:pPr algn="l">
              <a:lnSpc>
                <a:spcPct val="130000"/>
              </a:lnSpc>
            </a:pPr>
            <a:r>
              <a:rPr sz="1800" b="1" i="0">
                <a:solidFill>
                  <a:srgbClr val="6D28D9"/>
                </a:solidFill>
                <a:latin typeface="Calibri"/>
              </a:rPr>
              <a:t>•  </a:t>
            </a:r>
            <a:r>
              <a:rPr sz="1800" b="0" i="0">
                <a:solidFill>
                  <a:srgbClr val="333340"/>
                </a:solidFill>
                <a:latin typeface="Calibri"/>
              </a:rPr>
              <a:t>Sub-second responses on iPhone</a:t>
            </a:r>
          </a:p>
          <a:p>
            <a:pPr algn="l">
              <a:lnSpc>
                <a:spcPct val="130000"/>
              </a:lnSpc>
            </a:pPr>
            <a:r>
              <a:rPr sz="1800" b="1" i="0">
                <a:solidFill>
                  <a:srgbClr val="6D28D9"/>
                </a:solidFill>
                <a:latin typeface="Calibri"/>
              </a:rPr>
              <a:t>•  </a:t>
            </a:r>
            <a:r>
              <a:rPr sz="1800" b="0" i="0">
                <a:solidFill>
                  <a:srgbClr val="333340"/>
                </a:solidFill>
                <a:latin typeface="Calibri"/>
              </a:rPr>
              <a:t>Honest forecasts with 80% confidence band</a:t>
            </a:r>
          </a:p>
        </p:txBody>
      </p:sp>
      <p:sp>
        <p:nvSpPr>
          <p:cNvPr id="8" name="TextBox 7"/>
          <p:cNvSpPr txBox="1"/>
          <p:nvPr/>
        </p:nvSpPr>
        <p:spPr>
          <a:xfrm>
            <a:off x="11094415" y="6492240"/>
            <a:ext cx="457200" cy="274320"/>
          </a:xfrm>
          <a:prstGeom prst="rect">
            <a:avLst/>
          </a:prstGeom>
          <a:noFill/>
        </p:spPr>
        <p:txBody>
          <a:bodyPr wrap="square" lIns="0" rIns="0" tIns="0" bIns="0" anchor="t">
            <a:spAutoFit/>
          </a:bodyPr>
          <a:lstStyle/>
          <a:p>
            <a:pPr algn="r"/>
            <a:r>
              <a:rPr sz="1000" b="0" i="1">
                <a:solidFill>
                  <a:srgbClr val="808090"/>
                </a:solidFill>
                <a:latin typeface="Calibri"/>
              </a:rPr>
              <a:t>-- 3 of 16 --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640080"/>
          </a:xfrm>
          <a:prstGeom prst="rect">
            <a:avLst/>
          </a:prstGeom>
          <a:noFill/>
        </p:spPr>
        <p:txBody>
          <a:bodyPr wrap="square" lIns="0" rIns="0" tIns="0" bIns="0" anchor="t">
            <a:spAutoFit/>
          </a:bodyPr>
          <a:lstStyle/>
          <a:p>
            <a:pPr algn="l"/>
            <a:r>
              <a:rPr sz="3200" b="1" i="0">
                <a:solidFill>
                  <a:srgbClr val="0F1429"/>
                </a:solidFill>
                <a:latin typeface="Calibri"/>
              </a:rPr>
              <a:t>System Architecture</a:t>
            </a:r>
          </a:p>
        </p:txBody>
      </p:sp>
      <p:cxnSp>
        <p:nvCxnSpPr>
          <p:cNvPr id="3" name="Connector 2"/>
          <p:cNvCxnSpPr/>
          <p:nvPr/>
        </p:nvCxnSpPr>
        <p:spPr>
          <a:xfrm>
            <a:off x="640080" y="1216152"/>
            <a:ext cx="1280159" cy="0"/>
          </a:xfrm>
          <a:prstGeom prst="line">
            <a:avLst/>
          </a:prstGeom>
          <a:ln w="31750">
            <a:solidFill>
              <a:srgbClr val="6D28D9"/>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792327" y="2240280"/>
            <a:ext cx="3200400" cy="2286000"/>
          </a:xfrm>
          <a:prstGeom prst="roundRect">
            <a:avLst>
              <a:gd name="adj" fmla="val 4000"/>
            </a:avLst>
          </a:prstGeom>
          <a:solidFill>
            <a:srgbClr val="EE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6647" y="2404872"/>
            <a:ext cx="2651760" cy="274320"/>
          </a:xfrm>
          <a:prstGeom prst="rect">
            <a:avLst/>
          </a:prstGeom>
          <a:noFill/>
        </p:spPr>
        <p:txBody>
          <a:bodyPr wrap="square" lIns="0" rIns="0" tIns="0" bIns="0" anchor="t">
            <a:spAutoFit/>
          </a:bodyPr>
          <a:lstStyle/>
          <a:p>
            <a:pPr algn="l"/>
            <a:r>
              <a:rPr sz="1100" b="1" i="0">
                <a:solidFill>
                  <a:srgbClr val="808090"/>
                </a:solidFill>
                <a:latin typeface="Calibri"/>
              </a:rPr>
              <a:t>DATA + TRAINING</a:t>
            </a:r>
          </a:p>
        </p:txBody>
      </p:sp>
      <p:sp>
        <p:nvSpPr>
          <p:cNvPr id="6" name="TextBox 5"/>
          <p:cNvSpPr txBox="1"/>
          <p:nvPr/>
        </p:nvSpPr>
        <p:spPr>
          <a:xfrm>
            <a:off x="1066647" y="2651760"/>
            <a:ext cx="2651760" cy="365760"/>
          </a:xfrm>
          <a:prstGeom prst="rect">
            <a:avLst/>
          </a:prstGeom>
          <a:noFill/>
        </p:spPr>
        <p:txBody>
          <a:bodyPr wrap="square" lIns="0" rIns="0" tIns="0" bIns="0" anchor="t">
            <a:spAutoFit/>
          </a:bodyPr>
          <a:lstStyle/>
          <a:p>
            <a:pPr algn="l"/>
            <a:r>
              <a:rPr sz="2200" b="1" i="0">
                <a:solidFill>
                  <a:srgbClr val="4C1D95"/>
                </a:solidFill>
                <a:latin typeface="Calibri"/>
              </a:rPr>
              <a:t>Databricks</a:t>
            </a:r>
          </a:p>
        </p:txBody>
      </p:sp>
      <p:sp>
        <p:nvSpPr>
          <p:cNvPr id="7" name="TextBox 6"/>
          <p:cNvSpPr txBox="1"/>
          <p:nvPr/>
        </p:nvSpPr>
        <p:spPr>
          <a:xfrm>
            <a:off x="1066647" y="3200400"/>
            <a:ext cx="2651760" cy="1280160"/>
          </a:xfrm>
          <a:prstGeom prst="rect">
            <a:avLst/>
          </a:prstGeom>
          <a:noFill/>
        </p:spPr>
        <p:txBody>
          <a:bodyPr wrap="square" lIns="0" rIns="0" tIns="0" bIns="0" anchor="t">
            <a:spAutoFit/>
          </a:bodyPr>
          <a:lstStyle/>
          <a:p>
            <a:pPr algn="l">
              <a:lnSpc>
                <a:spcPct val="120000"/>
              </a:lnSpc>
            </a:pPr>
            <a:r>
              <a:rPr sz="1400" b="1" i="0">
                <a:solidFill>
                  <a:srgbClr val="6D28D9"/>
                </a:solidFill>
                <a:latin typeface="Calibri"/>
              </a:rPr>
              <a:t>•  </a:t>
            </a:r>
            <a:r>
              <a:rPr sz="1400" b="0" i="0">
                <a:solidFill>
                  <a:srgbClr val="333340"/>
                </a:solidFill>
                <a:latin typeface="Calibri"/>
              </a:rPr>
              <a:t>data.police.uk · ONS · IMD</a:t>
            </a:r>
          </a:p>
          <a:p>
            <a:pPr algn="l">
              <a:lnSpc>
                <a:spcPct val="120000"/>
              </a:lnSpc>
            </a:pPr>
            <a:r>
              <a:rPr sz="1400" b="1" i="0">
                <a:solidFill>
                  <a:srgbClr val="6D28D9"/>
                </a:solidFill>
                <a:latin typeface="Calibri"/>
              </a:rPr>
              <a:t>•  </a:t>
            </a:r>
            <a:r>
              <a:rPr sz="1400" b="0" i="0">
                <a:solidFill>
                  <a:srgbClr val="333340"/>
                </a:solidFill>
                <a:latin typeface="Calibri"/>
              </a:rPr>
              <a:t>MSOA-month panel (87,168 rows)</a:t>
            </a:r>
          </a:p>
          <a:p>
            <a:pPr algn="l">
              <a:lnSpc>
                <a:spcPct val="120000"/>
              </a:lnSpc>
            </a:pPr>
            <a:r>
              <a:rPr sz="1400" b="1" i="0">
                <a:solidFill>
                  <a:srgbClr val="6D28D9"/>
                </a:solidFill>
                <a:latin typeface="Calibri"/>
              </a:rPr>
              <a:t>•  </a:t>
            </a:r>
            <a:r>
              <a:rPr sz="1400" b="0" i="0">
                <a:solidFill>
                  <a:srgbClr val="333340"/>
                </a:solidFill>
                <a:latin typeface="Calibri"/>
              </a:rPr>
              <a:t>LightGBM + time-aware split</a:t>
            </a:r>
          </a:p>
          <a:p>
            <a:pPr algn="l">
              <a:lnSpc>
                <a:spcPct val="120000"/>
              </a:lnSpc>
            </a:pPr>
            <a:r>
              <a:rPr sz="1400" b="1" i="0">
                <a:solidFill>
                  <a:srgbClr val="6D28D9"/>
                </a:solidFill>
                <a:latin typeface="Calibri"/>
              </a:rPr>
              <a:t>•  </a:t>
            </a:r>
            <a:r>
              <a:rPr sz="1400" b="0" i="0">
                <a:solidFill>
                  <a:srgbClr val="333340"/>
                </a:solidFill>
                <a:latin typeface="Calibri"/>
              </a:rPr>
              <a:t>Export → JSON</a:t>
            </a:r>
          </a:p>
        </p:txBody>
      </p:sp>
      <p:sp>
        <p:nvSpPr>
          <p:cNvPr id="8" name="Rounded Rectangle 7"/>
          <p:cNvSpPr/>
          <p:nvPr/>
        </p:nvSpPr>
        <p:spPr>
          <a:xfrm>
            <a:off x="4495647" y="2240280"/>
            <a:ext cx="3200400" cy="2286000"/>
          </a:xfrm>
          <a:prstGeom prst="roundRect">
            <a:avLst>
              <a:gd name="adj" fmla="val 4000"/>
            </a:avLst>
          </a:prstGeom>
          <a:solidFill>
            <a:srgbClr val="FFFFFF"/>
          </a:solidFill>
          <a:ln w="12700">
            <a:solidFill>
              <a:srgbClr val="E5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69967" y="2404872"/>
            <a:ext cx="2651760" cy="274320"/>
          </a:xfrm>
          <a:prstGeom prst="rect">
            <a:avLst/>
          </a:prstGeom>
          <a:noFill/>
        </p:spPr>
        <p:txBody>
          <a:bodyPr wrap="square" lIns="0" rIns="0" tIns="0" bIns="0" anchor="t">
            <a:spAutoFit/>
          </a:bodyPr>
          <a:lstStyle/>
          <a:p>
            <a:pPr algn="l"/>
            <a:r>
              <a:rPr sz="1100" b="1" i="0">
                <a:solidFill>
                  <a:srgbClr val="808090"/>
                </a:solidFill>
                <a:latin typeface="Calibri"/>
              </a:rPr>
              <a:t>SERVING</a:t>
            </a:r>
          </a:p>
        </p:txBody>
      </p:sp>
      <p:sp>
        <p:nvSpPr>
          <p:cNvPr id="10" name="TextBox 9"/>
          <p:cNvSpPr txBox="1"/>
          <p:nvPr/>
        </p:nvSpPr>
        <p:spPr>
          <a:xfrm>
            <a:off x="4769967" y="2651760"/>
            <a:ext cx="2651760" cy="365760"/>
          </a:xfrm>
          <a:prstGeom prst="rect">
            <a:avLst/>
          </a:prstGeom>
          <a:noFill/>
        </p:spPr>
        <p:txBody>
          <a:bodyPr wrap="square" lIns="0" rIns="0" tIns="0" bIns="0" anchor="t">
            <a:spAutoFit/>
          </a:bodyPr>
          <a:lstStyle/>
          <a:p>
            <a:pPr algn="l"/>
            <a:r>
              <a:rPr sz="2200" b="1" i="0">
                <a:solidFill>
                  <a:srgbClr val="0F1429"/>
                </a:solidFill>
                <a:latin typeface="Calibri"/>
              </a:rPr>
              <a:t>FastAPI · Python 3.13</a:t>
            </a:r>
          </a:p>
        </p:txBody>
      </p:sp>
      <p:sp>
        <p:nvSpPr>
          <p:cNvPr id="11" name="TextBox 10"/>
          <p:cNvSpPr txBox="1"/>
          <p:nvPr/>
        </p:nvSpPr>
        <p:spPr>
          <a:xfrm>
            <a:off x="4769967" y="3200400"/>
            <a:ext cx="2651760" cy="1280160"/>
          </a:xfrm>
          <a:prstGeom prst="rect">
            <a:avLst/>
          </a:prstGeom>
          <a:noFill/>
        </p:spPr>
        <p:txBody>
          <a:bodyPr wrap="square" lIns="0" rIns="0" tIns="0" bIns="0" anchor="t">
            <a:spAutoFit/>
          </a:bodyPr>
          <a:lstStyle/>
          <a:p>
            <a:pPr algn="l">
              <a:lnSpc>
                <a:spcPct val="120000"/>
              </a:lnSpc>
            </a:pPr>
            <a:r>
              <a:rPr sz="1400" b="1" i="0">
                <a:solidFill>
                  <a:srgbClr val="6D28D9"/>
                </a:solidFill>
                <a:latin typeface="Calibri"/>
              </a:rPr>
              <a:t>•  </a:t>
            </a:r>
            <a:r>
              <a:rPr sz="1400" b="0" i="0">
                <a:solidFill>
                  <a:srgbClr val="333340"/>
                </a:solidFill>
                <a:latin typeface="Calibri"/>
              </a:rPr>
              <a:t>JSON loaded once → in-memory</a:t>
            </a:r>
          </a:p>
          <a:p>
            <a:pPr algn="l">
              <a:lnSpc>
                <a:spcPct val="120000"/>
              </a:lnSpc>
            </a:pPr>
            <a:r>
              <a:rPr sz="1400" b="1" i="0">
                <a:solidFill>
                  <a:srgbClr val="6D28D9"/>
                </a:solidFill>
                <a:latin typeface="Calibri"/>
              </a:rPr>
              <a:t>•  </a:t>
            </a:r>
            <a:r>
              <a:rPr sz="1400" b="0" i="0">
                <a:solidFill>
                  <a:srgbClr val="333340"/>
                </a:solidFill>
                <a:latin typeface="Calibri"/>
              </a:rPr>
              <a:t>6 endpoints (REST · JSON)</a:t>
            </a:r>
          </a:p>
          <a:p>
            <a:pPr algn="l">
              <a:lnSpc>
                <a:spcPct val="120000"/>
              </a:lnSpc>
            </a:pPr>
            <a:r>
              <a:rPr sz="1400" b="1" i="0">
                <a:solidFill>
                  <a:srgbClr val="6D28D9"/>
                </a:solidFill>
                <a:latin typeface="Calibri"/>
              </a:rPr>
              <a:t>•  </a:t>
            </a:r>
            <a:r>
              <a:rPr sz="1400" b="0" i="0">
                <a:solidFill>
                  <a:srgbClr val="333340"/>
                </a:solidFill>
                <a:latin typeface="Calibri"/>
              </a:rPr>
              <a:t>Sub-second p95 latency</a:t>
            </a:r>
          </a:p>
          <a:p>
            <a:pPr algn="l">
              <a:lnSpc>
                <a:spcPct val="120000"/>
              </a:lnSpc>
            </a:pPr>
            <a:r>
              <a:rPr sz="1400" b="1" i="0">
                <a:solidFill>
                  <a:srgbClr val="6D28D9"/>
                </a:solidFill>
                <a:latin typeface="Calibri"/>
              </a:rPr>
              <a:t>•  </a:t>
            </a:r>
            <a:r>
              <a:rPr sz="1400" b="0" i="0">
                <a:solidFill>
                  <a:srgbClr val="333340"/>
                </a:solidFill>
                <a:latin typeface="Calibri"/>
              </a:rPr>
              <a:t>Cloudflared tunnel for demo</a:t>
            </a:r>
          </a:p>
        </p:txBody>
      </p:sp>
      <p:sp>
        <p:nvSpPr>
          <p:cNvPr id="12" name="Rounded Rectangle 11"/>
          <p:cNvSpPr/>
          <p:nvPr/>
        </p:nvSpPr>
        <p:spPr>
          <a:xfrm>
            <a:off x="8198967" y="2240280"/>
            <a:ext cx="3200400" cy="2286000"/>
          </a:xfrm>
          <a:prstGeom prst="roundRect">
            <a:avLst>
              <a:gd name="adj" fmla="val 4000"/>
            </a:avLst>
          </a:prstGeom>
          <a:solidFill>
            <a:srgbClr val="0F1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73287" y="2404872"/>
            <a:ext cx="2651760" cy="274320"/>
          </a:xfrm>
          <a:prstGeom prst="rect">
            <a:avLst/>
          </a:prstGeom>
          <a:noFill/>
        </p:spPr>
        <p:txBody>
          <a:bodyPr wrap="square" lIns="0" rIns="0" tIns="0" bIns="0" anchor="t">
            <a:spAutoFit/>
          </a:bodyPr>
          <a:lstStyle/>
          <a:p>
            <a:pPr algn="l"/>
            <a:r>
              <a:rPr sz="1100" b="1" i="0">
                <a:solidFill>
                  <a:srgbClr val="EEE6FF"/>
                </a:solidFill>
                <a:latin typeface="Calibri"/>
              </a:rPr>
              <a:t>CLIENT</a:t>
            </a:r>
          </a:p>
        </p:txBody>
      </p:sp>
      <p:sp>
        <p:nvSpPr>
          <p:cNvPr id="14" name="TextBox 13"/>
          <p:cNvSpPr txBox="1"/>
          <p:nvPr/>
        </p:nvSpPr>
        <p:spPr>
          <a:xfrm>
            <a:off x="8473287" y="2651760"/>
            <a:ext cx="2651760" cy="365760"/>
          </a:xfrm>
          <a:prstGeom prst="rect">
            <a:avLst/>
          </a:prstGeom>
          <a:noFill/>
        </p:spPr>
        <p:txBody>
          <a:bodyPr wrap="square" lIns="0" rIns="0" tIns="0" bIns="0" anchor="t">
            <a:spAutoFit/>
          </a:bodyPr>
          <a:lstStyle/>
          <a:p>
            <a:pPr algn="l"/>
            <a:r>
              <a:rPr sz="2200" b="1" i="0">
                <a:solidFill>
                  <a:srgbClr val="FFFFFF"/>
                </a:solidFill>
                <a:latin typeface="Calibri"/>
              </a:rPr>
              <a:t>Native iOS · SwiftUI</a:t>
            </a:r>
          </a:p>
        </p:txBody>
      </p:sp>
      <p:sp>
        <p:nvSpPr>
          <p:cNvPr id="15" name="TextBox 14"/>
          <p:cNvSpPr txBox="1"/>
          <p:nvPr/>
        </p:nvSpPr>
        <p:spPr>
          <a:xfrm>
            <a:off x="8473287" y="3200400"/>
            <a:ext cx="2651760" cy="1280160"/>
          </a:xfrm>
          <a:prstGeom prst="rect">
            <a:avLst/>
          </a:prstGeom>
          <a:noFill/>
        </p:spPr>
        <p:txBody>
          <a:bodyPr wrap="square" lIns="0" rIns="0" tIns="0" bIns="0" anchor="t">
            <a:spAutoFit/>
          </a:bodyPr>
          <a:lstStyle/>
          <a:p>
            <a:pPr algn="l">
              <a:lnSpc>
                <a:spcPct val="120000"/>
              </a:lnSpc>
            </a:pPr>
            <a:r>
              <a:rPr sz="1400" b="1" i="0">
                <a:solidFill>
                  <a:srgbClr val="6D28D9"/>
                </a:solidFill>
                <a:latin typeface="Calibri"/>
              </a:rPr>
              <a:t>•  </a:t>
            </a:r>
            <a:r>
              <a:rPr sz="1400" b="0" i="0">
                <a:solidFill>
                  <a:srgbClr val="FFFFFF"/>
                </a:solidFill>
                <a:latin typeface="Calibri"/>
              </a:rPr>
              <a:t>MapKit · 7,264 MSOA polygons</a:t>
            </a:r>
          </a:p>
          <a:p>
            <a:pPr algn="l">
              <a:lnSpc>
                <a:spcPct val="120000"/>
              </a:lnSpc>
            </a:pPr>
            <a:r>
              <a:rPr sz="1400" b="1" i="0">
                <a:solidFill>
                  <a:srgbClr val="6D28D9"/>
                </a:solidFill>
                <a:latin typeface="Calibri"/>
              </a:rPr>
              <a:t>•  </a:t>
            </a:r>
            <a:r>
              <a:rPr sz="1400" b="0" i="0">
                <a:solidFill>
                  <a:srgbClr val="FFFFFF"/>
                </a:solidFill>
                <a:latin typeface="Calibri"/>
              </a:rPr>
              <a:t>Swift Charts for trend</a:t>
            </a:r>
          </a:p>
          <a:p>
            <a:pPr algn="l">
              <a:lnSpc>
                <a:spcPct val="120000"/>
              </a:lnSpc>
            </a:pPr>
            <a:r>
              <a:rPr sz="1400" b="1" i="0">
                <a:solidFill>
                  <a:srgbClr val="6D28D9"/>
                </a:solidFill>
                <a:latin typeface="Calibri"/>
              </a:rPr>
              <a:t>•  </a:t>
            </a:r>
            <a:r>
              <a:rPr sz="1400" b="0" i="0">
                <a:solidFill>
                  <a:srgbClr val="FFFFFF"/>
                </a:solidFill>
                <a:latin typeface="Calibri"/>
              </a:rPr>
              <a:t>@Observable state · UserDefaults</a:t>
            </a:r>
          </a:p>
          <a:p>
            <a:pPr algn="l">
              <a:lnSpc>
                <a:spcPct val="120000"/>
              </a:lnSpc>
            </a:pPr>
            <a:r>
              <a:rPr sz="1400" b="1" i="0">
                <a:solidFill>
                  <a:srgbClr val="6D28D9"/>
                </a:solidFill>
                <a:latin typeface="Calibri"/>
              </a:rPr>
              <a:t>•  </a:t>
            </a:r>
            <a:r>
              <a:rPr sz="1400" b="0" i="0">
                <a:solidFill>
                  <a:srgbClr val="FFFFFF"/>
                </a:solidFill>
                <a:latin typeface="Calibri"/>
              </a:rPr>
              <a:t>Zero third-party SDKs</a:t>
            </a:r>
          </a:p>
        </p:txBody>
      </p:sp>
      <p:cxnSp>
        <p:nvCxnSpPr>
          <p:cNvPr id="16" name="Connector 15"/>
          <p:cNvCxnSpPr/>
          <p:nvPr/>
        </p:nvCxnSpPr>
        <p:spPr>
          <a:xfrm>
            <a:off x="4038447" y="3383280"/>
            <a:ext cx="411480" cy="0"/>
          </a:xfrm>
          <a:prstGeom prst="line">
            <a:avLst/>
          </a:prstGeom>
          <a:ln w="38100">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741767" y="3383280"/>
            <a:ext cx="411480" cy="0"/>
          </a:xfrm>
          <a:prstGeom prst="line">
            <a:avLst/>
          </a:prstGeom>
          <a:ln w="38100">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4892040"/>
            <a:ext cx="10911535" cy="365760"/>
          </a:xfrm>
          <a:prstGeom prst="rect">
            <a:avLst/>
          </a:prstGeom>
          <a:noFill/>
        </p:spPr>
        <p:txBody>
          <a:bodyPr wrap="square" lIns="0" rIns="0" tIns="0" bIns="0" anchor="t">
            <a:spAutoFit/>
          </a:bodyPr>
          <a:lstStyle/>
          <a:p>
            <a:pPr algn="ctr"/>
            <a:r>
              <a:rPr sz="1400" b="0" i="1">
                <a:solidFill>
                  <a:srgbClr val="808090"/>
                </a:solidFill>
                <a:latin typeface="Calibri"/>
              </a:rPr>
              <a:t>Training is heavy and offline.  Serving is JSON + arithmetic.  The phone never talks to Databricks.</a:t>
            </a:r>
          </a:p>
        </p:txBody>
      </p:sp>
      <p:sp>
        <p:nvSpPr>
          <p:cNvPr id="19" name="TextBox 18"/>
          <p:cNvSpPr txBox="1"/>
          <p:nvPr/>
        </p:nvSpPr>
        <p:spPr>
          <a:xfrm>
            <a:off x="11094415" y="6492240"/>
            <a:ext cx="457200" cy="274320"/>
          </a:xfrm>
          <a:prstGeom prst="rect">
            <a:avLst/>
          </a:prstGeom>
          <a:noFill/>
        </p:spPr>
        <p:txBody>
          <a:bodyPr wrap="square" lIns="0" rIns="0" tIns="0" bIns="0" anchor="t">
            <a:spAutoFit/>
          </a:bodyPr>
          <a:lstStyle/>
          <a:p>
            <a:pPr algn="r"/>
            <a:r>
              <a:rPr sz="1000" b="0" i="1">
                <a:solidFill>
                  <a:srgbClr val="808090"/>
                </a:solidFill>
                <a:latin typeface="Calibri"/>
              </a:rPr>
              <a:t>-- 4 of 16 --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640080"/>
          </a:xfrm>
          <a:prstGeom prst="rect">
            <a:avLst/>
          </a:prstGeom>
          <a:noFill/>
        </p:spPr>
        <p:txBody>
          <a:bodyPr wrap="square" lIns="0" rIns="0" tIns="0" bIns="0" anchor="t">
            <a:spAutoFit/>
          </a:bodyPr>
          <a:lstStyle/>
          <a:p>
            <a:pPr algn="l"/>
            <a:r>
              <a:rPr sz="3200" b="1" i="0">
                <a:solidFill>
                  <a:srgbClr val="0F1429"/>
                </a:solidFill>
                <a:latin typeface="Calibri"/>
              </a:rPr>
              <a:t>Data Pipeline</a:t>
            </a:r>
          </a:p>
        </p:txBody>
      </p:sp>
      <p:cxnSp>
        <p:nvCxnSpPr>
          <p:cNvPr id="3" name="Connector 2"/>
          <p:cNvCxnSpPr/>
          <p:nvPr/>
        </p:nvCxnSpPr>
        <p:spPr>
          <a:xfrm>
            <a:off x="640080" y="1216152"/>
            <a:ext cx="1280159" cy="0"/>
          </a:xfrm>
          <a:prstGeom prst="line">
            <a:avLst/>
          </a:prstGeom>
          <a:ln w="31750">
            <a:solidFill>
              <a:srgbClr val="6D28D9"/>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1158087" y="1874519"/>
            <a:ext cx="2331720" cy="1371600"/>
          </a:xfrm>
          <a:prstGeom prst="roundRect">
            <a:avLst>
              <a:gd name="adj" fmla="val 4000"/>
            </a:avLst>
          </a:prstGeom>
          <a:solidFill>
            <a:srgbClr val="EE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40967" y="2057400"/>
            <a:ext cx="1965960" cy="320040"/>
          </a:xfrm>
          <a:prstGeom prst="rect">
            <a:avLst/>
          </a:prstGeom>
          <a:noFill/>
        </p:spPr>
        <p:txBody>
          <a:bodyPr wrap="square" lIns="0" rIns="0" tIns="0" bIns="0" anchor="t">
            <a:spAutoFit/>
          </a:bodyPr>
          <a:lstStyle/>
          <a:p>
            <a:pPr algn="l"/>
            <a:r>
              <a:rPr sz="1800" b="1" i="0">
                <a:solidFill>
                  <a:srgbClr val="4C1D95"/>
                </a:solidFill>
                <a:latin typeface="Calibri"/>
              </a:rPr>
              <a:t>data.police.uk</a:t>
            </a:r>
          </a:p>
        </p:txBody>
      </p:sp>
      <p:sp>
        <p:nvSpPr>
          <p:cNvPr id="6" name="TextBox 5"/>
          <p:cNvSpPr txBox="1"/>
          <p:nvPr/>
        </p:nvSpPr>
        <p:spPr>
          <a:xfrm>
            <a:off x="1340967" y="2468879"/>
            <a:ext cx="1965960" cy="731520"/>
          </a:xfrm>
          <a:prstGeom prst="rect">
            <a:avLst/>
          </a:prstGeom>
          <a:noFill/>
        </p:spPr>
        <p:txBody>
          <a:bodyPr wrap="square" lIns="0" rIns="0" tIns="0" bIns="0" anchor="t">
            <a:spAutoFit/>
          </a:bodyPr>
          <a:lstStyle/>
          <a:p>
            <a:pPr algn="l"/>
            <a:r>
              <a:rPr sz="1400" b="0" i="0">
                <a:solidFill>
                  <a:srgbClr val="333340"/>
                </a:solidFill>
                <a:latin typeface="Calibri"/>
              </a:rPr>
              <a:t>60 months
street-level crime</a:t>
            </a:r>
          </a:p>
        </p:txBody>
      </p:sp>
      <p:sp>
        <p:nvSpPr>
          <p:cNvPr id="7" name="Rounded Rectangle 6"/>
          <p:cNvSpPr/>
          <p:nvPr/>
        </p:nvSpPr>
        <p:spPr>
          <a:xfrm>
            <a:off x="3672687" y="1874519"/>
            <a:ext cx="2331720" cy="1371600"/>
          </a:xfrm>
          <a:prstGeom prst="roundRect">
            <a:avLst>
              <a:gd name="adj" fmla="val 4000"/>
            </a:avLst>
          </a:prstGeom>
          <a:solidFill>
            <a:srgbClr val="EE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55567" y="2057400"/>
            <a:ext cx="1965960" cy="320040"/>
          </a:xfrm>
          <a:prstGeom prst="rect">
            <a:avLst/>
          </a:prstGeom>
          <a:noFill/>
        </p:spPr>
        <p:txBody>
          <a:bodyPr wrap="square" lIns="0" rIns="0" tIns="0" bIns="0" anchor="t">
            <a:spAutoFit/>
          </a:bodyPr>
          <a:lstStyle/>
          <a:p>
            <a:pPr algn="l"/>
            <a:r>
              <a:rPr sz="1800" b="1" i="0">
                <a:solidFill>
                  <a:srgbClr val="4C1D95"/>
                </a:solidFill>
                <a:latin typeface="Calibri"/>
              </a:rPr>
              <a:t>ONS Census 2021</a:t>
            </a:r>
          </a:p>
        </p:txBody>
      </p:sp>
      <p:sp>
        <p:nvSpPr>
          <p:cNvPr id="9" name="TextBox 8"/>
          <p:cNvSpPr txBox="1"/>
          <p:nvPr/>
        </p:nvSpPr>
        <p:spPr>
          <a:xfrm>
            <a:off x="3855567" y="2468879"/>
            <a:ext cx="1965960" cy="731520"/>
          </a:xfrm>
          <a:prstGeom prst="rect">
            <a:avLst/>
          </a:prstGeom>
          <a:noFill/>
        </p:spPr>
        <p:txBody>
          <a:bodyPr wrap="square" lIns="0" rIns="0" tIns="0" bIns="0" anchor="t">
            <a:spAutoFit/>
          </a:bodyPr>
          <a:lstStyle/>
          <a:p>
            <a:pPr algn="l"/>
            <a:r>
              <a:rPr sz="1400" b="0" i="0">
                <a:solidFill>
                  <a:srgbClr val="333340"/>
                </a:solidFill>
                <a:latin typeface="Calibri"/>
              </a:rPr>
              <a:t>Population
+ deprivation</a:t>
            </a:r>
          </a:p>
        </p:txBody>
      </p:sp>
      <p:sp>
        <p:nvSpPr>
          <p:cNvPr id="10" name="Rounded Rectangle 9"/>
          <p:cNvSpPr/>
          <p:nvPr/>
        </p:nvSpPr>
        <p:spPr>
          <a:xfrm>
            <a:off x="6187287" y="1874519"/>
            <a:ext cx="2331720" cy="1371600"/>
          </a:xfrm>
          <a:prstGeom prst="roundRect">
            <a:avLst>
              <a:gd name="adj" fmla="val 4000"/>
            </a:avLst>
          </a:prstGeom>
          <a:solidFill>
            <a:srgbClr val="EE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0167" y="2057400"/>
            <a:ext cx="1965960" cy="320040"/>
          </a:xfrm>
          <a:prstGeom prst="rect">
            <a:avLst/>
          </a:prstGeom>
          <a:noFill/>
        </p:spPr>
        <p:txBody>
          <a:bodyPr wrap="square" lIns="0" rIns="0" tIns="0" bIns="0" anchor="t">
            <a:spAutoFit/>
          </a:bodyPr>
          <a:lstStyle/>
          <a:p>
            <a:pPr algn="l"/>
            <a:r>
              <a:rPr sz="1800" b="1" i="0">
                <a:solidFill>
                  <a:srgbClr val="4C1D95"/>
                </a:solidFill>
                <a:latin typeface="Calibri"/>
              </a:rPr>
              <a:t>IMD / WIMD 2019</a:t>
            </a:r>
          </a:p>
        </p:txBody>
      </p:sp>
      <p:sp>
        <p:nvSpPr>
          <p:cNvPr id="12" name="TextBox 11"/>
          <p:cNvSpPr txBox="1"/>
          <p:nvPr/>
        </p:nvSpPr>
        <p:spPr>
          <a:xfrm>
            <a:off x="6370167" y="2468879"/>
            <a:ext cx="1965960" cy="731520"/>
          </a:xfrm>
          <a:prstGeom prst="rect">
            <a:avLst/>
          </a:prstGeom>
          <a:noFill/>
        </p:spPr>
        <p:txBody>
          <a:bodyPr wrap="square" lIns="0" rIns="0" tIns="0" bIns="0" anchor="t">
            <a:spAutoFit/>
          </a:bodyPr>
          <a:lstStyle/>
          <a:p>
            <a:pPr algn="l"/>
            <a:r>
              <a:rPr sz="1400" b="0" i="0">
                <a:solidFill>
                  <a:srgbClr val="333340"/>
                </a:solidFill>
                <a:latin typeface="Calibri"/>
              </a:rPr>
              <a:t>Multi-domain
deprivation index</a:t>
            </a:r>
          </a:p>
        </p:txBody>
      </p:sp>
      <p:sp>
        <p:nvSpPr>
          <p:cNvPr id="13" name="Rounded Rectangle 12"/>
          <p:cNvSpPr/>
          <p:nvPr/>
        </p:nvSpPr>
        <p:spPr>
          <a:xfrm>
            <a:off x="8701887" y="1874519"/>
            <a:ext cx="2331720" cy="1371600"/>
          </a:xfrm>
          <a:prstGeom prst="roundRect">
            <a:avLst>
              <a:gd name="adj" fmla="val 4000"/>
            </a:avLst>
          </a:prstGeom>
          <a:solidFill>
            <a:srgbClr val="EE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84767" y="2057400"/>
            <a:ext cx="1965960" cy="320040"/>
          </a:xfrm>
          <a:prstGeom prst="rect">
            <a:avLst/>
          </a:prstGeom>
          <a:noFill/>
        </p:spPr>
        <p:txBody>
          <a:bodyPr wrap="square" lIns="0" rIns="0" tIns="0" bIns="0" anchor="t">
            <a:spAutoFit/>
          </a:bodyPr>
          <a:lstStyle/>
          <a:p>
            <a:pPr algn="l"/>
            <a:r>
              <a:rPr sz="1800" b="1" i="0">
                <a:solidFill>
                  <a:srgbClr val="4C1D95"/>
                </a:solidFill>
                <a:latin typeface="Calibri"/>
              </a:rPr>
              <a:t>ONS Geography</a:t>
            </a:r>
          </a:p>
        </p:txBody>
      </p:sp>
      <p:sp>
        <p:nvSpPr>
          <p:cNvPr id="15" name="TextBox 14"/>
          <p:cNvSpPr txBox="1"/>
          <p:nvPr/>
        </p:nvSpPr>
        <p:spPr>
          <a:xfrm>
            <a:off x="8884767" y="2468879"/>
            <a:ext cx="1965960" cy="731520"/>
          </a:xfrm>
          <a:prstGeom prst="rect">
            <a:avLst/>
          </a:prstGeom>
          <a:noFill/>
        </p:spPr>
        <p:txBody>
          <a:bodyPr wrap="square" lIns="0" rIns="0" tIns="0" bIns="0" anchor="t">
            <a:spAutoFit/>
          </a:bodyPr>
          <a:lstStyle/>
          <a:p>
            <a:pPr algn="l"/>
            <a:r>
              <a:rPr sz="1400" b="0" i="0">
                <a:solidFill>
                  <a:srgbClr val="333340"/>
                </a:solidFill>
                <a:latin typeface="Calibri"/>
              </a:rPr>
              <a:t>MSOA 2021
boundaries</a:t>
            </a:r>
          </a:p>
        </p:txBody>
      </p:sp>
      <p:cxnSp>
        <p:nvCxnSpPr>
          <p:cNvPr id="16" name="Connector 15"/>
          <p:cNvCxnSpPr/>
          <p:nvPr/>
        </p:nvCxnSpPr>
        <p:spPr>
          <a:xfrm>
            <a:off x="6095847" y="3291839"/>
            <a:ext cx="0" cy="457200"/>
          </a:xfrm>
          <a:prstGeom prst="line">
            <a:avLst/>
          </a:prstGeom>
          <a:ln w="38100">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666847" y="3977639"/>
            <a:ext cx="6858000" cy="1280160"/>
          </a:xfrm>
          <a:prstGeom prst="roundRect">
            <a:avLst>
              <a:gd name="adj" fmla="val 4000"/>
            </a:avLst>
          </a:prstGeom>
          <a:solidFill>
            <a:srgbClr val="0F1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1167" y="4160520"/>
            <a:ext cx="6309360" cy="365760"/>
          </a:xfrm>
          <a:prstGeom prst="rect">
            <a:avLst/>
          </a:prstGeom>
          <a:noFill/>
        </p:spPr>
        <p:txBody>
          <a:bodyPr wrap="square" lIns="0" rIns="0" tIns="0" bIns="0" anchor="t">
            <a:spAutoFit/>
          </a:bodyPr>
          <a:lstStyle/>
          <a:p>
            <a:pPr algn="l"/>
            <a:r>
              <a:rPr sz="2200" b="1" i="0">
                <a:solidFill>
                  <a:srgbClr val="FFFFFF"/>
                </a:solidFill>
                <a:latin typeface="Calibri"/>
              </a:rPr>
              <a:t>MSOA-month panel  ·  87,168 rows  ·  7,264 regions</a:t>
            </a:r>
          </a:p>
        </p:txBody>
      </p:sp>
      <p:sp>
        <p:nvSpPr>
          <p:cNvPr id="19" name="TextBox 18"/>
          <p:cNvSpPr txBox="1"/>
          <p:nvPr/>
        </p:nvSpPr>
        <p:spPr>
          <a:xfrm>
            <a:off x="2941167" y="4617720"/>
            <a:ext cx="6309360" cy="548640"/>
          </a:xfrm>
          <a:prstGeom prst="rect">
            <a:avLst/>
          </a:prstGeom>
          <a:noFill/>
        </p:spPr>
        <p:txBody>
          <a:bodyPr wrap="square" lIns="0" rIns="0" tIns="0" bIns="0" anchor="t">
            <a:spAutoFit/>
          </a:bodyPr>
          <a:lstStyle/>
          <a:p>
            <a:pPr algn="l"/>
            <a:r>
              <a:rPr sz="1400" b="0" i="0">
                <a:solidFill>
                  <a:srgbClr val="EEE6FF"/>
                </a:solidFill>
                <a:latin typeface="Calibri"/>
              </a:rPr>
              <a:t>Time-aware train / test split  ·  no future leakage  ·  rolling means + seasonality + neighbour spillover</a:t>
            </a:r>
          </a:p>
        </p:txBody>
      </p:sp>
      <p:cxnSp>
        <p:nvCxnSpPr>
          <p:cNvPr id="20" name="Connector 19"/>
          <p:cNvCxnSpPr/>
          <p:nvPr/>
        </p:nvCxnSpPr>
        <p:spPr>
          <a:xfrm>
            <a:off x="6095847" y="5303520"/>
            <a:ext cx="0" cy="457200"/>
          </a:xfrm>
          <a:prstGeom prst="line">
            <a:avLst/>
          </a:prstGeom>
          <a:ln w="38100">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40080" y="5989320"/>
            <a:ext cx="10911535" cy="502920"/>
          </a:xfrm>
          <a:prstGeom prst="rect">
            <a:avLst/>
          </a:prstGeom>
          <a:noFill/>
        </p:spPr>
        <p:txBody>
          <a:bodyPr wrap="square" lIns="0" rIns="0" tIns="0" bIns="0" anchor="t">
            <a:spAutoFit/>
          </a:bodyPr>
          <a:lstStyle/>
          <a:p>
            <a:pPr algn="ctr"/>
            <a:r>
              <a:rPr sz="1800" b="1" i="0">
                <a:solidFill>
                  <a:srgbClr val="0F1429"/>
                </a:solidFill>
                <a:latin typeface="Calibri"/>
              </a:rPr>
              <a:t>Outputs:  scores · risk-package · trend · breakdown · pricing · compare</a:t>
            </a:r>
          </a:p>
        </p:txBody>
      </p:sp>
      <p:sp>
        <p:nvSpPr>
          <p:cNvPr id="22" name="TextBox 21"/>
          <p:cNvSpPr txBox="1"/>
          <p:nvPr/>
        </p:nvSpPr>
        <p:spPr>
          <a:xfrm>
            <a:off x="11094415" y="6492240"/>
            <a:ext cx="457200" cy="274320"/>
          </a:xfrm>
          <a:prstGeom prst="rect">
            <a:avLst/>
          </a:prstGeom>
          <a:noFill/>
        </p:spPr>
        <p:txBody>
          <a:bodyPr wrap="square" lIns="0" rIns="0" tIns="0" bIns="0" anchor="t">
            <a:spAutoFit/>
          </a:bodyPr>
          <a:lstStyle/>
          <a:p>
            <a:pPr algn="r"/>
            <a:r>
              <a:rPr sz="1000" b="0" i="1">
                <a:solidFill>
                  <a:srgbClr val="808090"/>
                </a:solidFill>
                <a:latin typeface="Calibri"/>
              </a:rPr>
              <a:t>-- 5 of 16 --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2743200"/>
            <a:ext cx="10911535" cy="1005840"/>
          </a:xfrm>
          <a:prstGeom prst="rect">
            <a:avLst/>
          </a:prstGeom>
          <a:noFill/>
        </p:spPr>
        <p:txBody>
          <a:bodyPr wrap="square" lIns="0" rIns="0" tIns="0" bIns="0" anchor="ctr">
            <a:spAutoFit/>
          </a:bodyPr>
          <a:lstStyle/>
          <a:p>
            <a:pPr algn="ctr"/>
            <a:r>
              <a:rPr sz="6400" b="1" i="0">
                <a:solidFill>
                  <a:srgbClr val="0F1429"/>
                </a:solidFill>
                <a:latin typeface="Calibri"/>
              </a:rPr>
              <a:t>REGION SHEET</a:t>
            </a:r>
          </a:p>
        </p:txBody>
      </p:sp>
      <p:sp>
        <p:nvSpPr>
          <p:cNvPr id="3" name="Rectangle 2"/>
          <p:cNvSpPr/>
          <p:nvPr/>
        </p:nvSpPr>
        <p:spPr>
          <a:xfrm>
            <a:off x="5547207" y="3840480"/>
            <a:ext cx="1097280" cy="54864"/>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023360"/>
            <a:ext cx="10911535" cy="457200"/>
          </a:xfrm>
          <a:prstGeom prst="rect">
            <a:avLst/>
          </a:prstGeom>
          <a:noFill/>
        </p:spPr>
        <p:txBody>
          <a:bodyPr wrap="square" lIns="0" rIns="0" tIns="0" bIns="0" anchor="t">
            <a:spAutoFit/>
          </a:bodyPr>
          <a:lstStyle/>
          <a:p>
            <a:pPr algn="ctr"/>
            <a:r>
              <a:rPr sz="2200" b="0" i="1">
                <a:solidFill>
                  <a:srgbClr val="4C1D95"/>
                </a:solidFill>
                <a:latin typeface="Calibri"/>
              </a:rPr>
              <a:t>Five cards. One tap. Plain English.</a:t>
            </a:r>
          </a:p>
        </p:txBody>
      </p:sp>
      <p:sp>
        <p:nvSpPr>
          <p:cNvPr id="5" name="TextBox 4"/>
          <p:cNvSpPr txBox="1"/>
          <p:nvPr/>
        </p:nvSpPr>
        <p:spPr>
          <a:xfrm>
            <a:off x="11094415" y="6492240"/>
            <a:ext cx="457200" cy="274320"/>
          </a:xfrm>
          <a:prstGeom prst="rect">
            <a:avLst/>
          </a:prstGeom>
          <a:noFill/>
        </p:spPr>
        <p:txBody>
          <a:bodyPr wrap="square" lIns="0" rIns="0" tIns="0" bIns="0" anchor="t">
            <a:spAutoFit/>
          </a:bodyPr>
          <a:lstStyle/>
          <a:p>
            <a:pPr algn="r"/>
            <a:r>
              <a:rPr sz="1000" b="0" i="1">
                <a:solidFill>
                  <a:srgbClr val="808090"/>
                </a:solidFill>
                <a:latin typeface="Calibri"/>
              </a:rPr>
              <a:t>-- 6 of 16 --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640080"/>
          </a:xfrm>
          <a:prstGeom prst="rect">
            <a:avLst/>
          </a:prstGeom>
          <a:noFill/>
        </p:spPr>
        <p:txBody>
          <a:bodyPr wrap="square" lIns="0" rIns="0" tIns="0" bIns="0" anchor="t">
            <a:spAutoFit/>
          </a:bodyPr>
          <a:lstStyle/>
          <a:p>
            <a:pPr algn="l"/>
            <a:r>
              <a:rPr sz="3200" b="1" i="0">
                <a:solidFill>
                  <a:srgbClr val="0F1429"/>
                </a:solidFill>
                <a:latin typeface="Calibri"/>
              </a:rPr>
              <a:t>Live Demo</a:t>
            </a:r>
          </a:p>
        </p:txBody>
      </p:sp>
      <p:cxnSp>
        <p:nvCxnSpPr>
          <p:cNvPr id="3" name="Connector 2"/>
          <p:cNvCxnSpPr/>
          <p:nvPr/>
        </p:nvCxnSpPr>
        <p:spPr>
          <a:xfrm>
            <a:off x="640080" y="1216152"/>
            <a:ext cx="1280159" cy="0"/>
          </a:xfrm>
          <a:prstGeom prst="line">
            <a:avLst/>
          </a:prstGeom>
          <a:ln w="31750">
            <a:solidFill>
              <a:srgbClr val="6D28D9"/>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640080" y="2057400"/>
            <a:ext cx="10911535" cy="4023360"/>
          </a:xfrm>
          <a:prstGeom prst="roundRect">
            <a:avLst>
              <a:gd name="adj" fmla="val 4000"/>
            </a:avLst>
          </a:prstGeom>
          <a:solidFill>
            <a:srgbClr val="0F1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5400000">
            <a:off x="5592927" y="3566160"/>
            <a:ext cx="1005840" cy="1005840"/>
          </a:xfrm>
          <a:prstGeom prst="triangl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846320"/>
            <a:ext cx="10911535" cy="365760"/>
          </a:xfrm>
          <a:prstGeom prst="rect">
            <a:avLst/>
          </a:prstGeom>
          <a:noFill/>
        </p:spPr>
        <p:txBody>
          <a:bodyPr wrap="square" lIns="0" rIns="0" tIns="0" bIns="0" anchor="t">
            <a:spAutoFit/>
          </a:bodyPr>
          <a:lstStyle/>
          <a:p>
            <a:pPr algn="ctr"/>
            <a:r>
              <a:rPr sz="1800" b="1" i="0">
                <a:solidFill>
                  <a:srgbClr val="EEE6FF"/>
                </a:solidFill>
                <a:latin typeface="Calibri"/>
              </a:rPr>
              <a:t>[ Drop demo video here — PowerPoint → Insert → Video ]</a:t>
            </a:r>
          </a:p>
        </p:txBody>
      </p:sp>
      <p:sp>
        <p:nvSpPr>
          <p:cNvPr id="7" name="TextBox 6"/>
          <p:cNvSpPr txBox="1"/>
          <p:nvPr/>
        </p:nvSpPr>
        <p:spPr>
          <a:xfrm>
            <a:off x="640080" y="5257800"/>
            <a:ext cx="10911535" cy="274320"/>
          </a:xfrm>
          <a:prstGeom prst="rect">
            <a:avLst/>
          </a:prstGeom>
          <a:noFill/>
        </p:spPr>
        <p:txBody>
          <a:bodyPr wrap="square" lIns="0" rIns="0" tIns="0" bIns="0" anchor="t">
            <a:spAutoFit/>
          </a:bodyPr>
          <a:lstStyle/>
          <a:p>
            <a:pPr algn="ctr"/>
            <a:r>
              <a:rPr sz="1400" b="0" i="1">
                <a:solidFill>
                  <a:srgbClr val="808090"/>
                </a:solidFill>
                <a:latin typeface="Calibri"/>
              </a:rPr>
              <a:t>Open app · tap an MSOA · scroll the 5 cards · switch persona · Compare two regions</a:t>
            </a:r>
          </a:p>
        </p:txBody>
      </p:sp>
      <p:sp>
        <p:nvSpPr>
          <p:cNvPr id="8" name="TextBox 7"/>
          <p:cNvSpPr txBox="1"/>
          <p:nvPr/>
        </p:nvSpPr>
        <p:spPr>
          <a:xfrm>
            <a:off x="11094415" y="6492240"/>
            <a:ext cx="457200" cy="274320"/>
          </a:xfrm>
          <a:prstGeom prst="rect">
            <a:avLst/>
          </a:prstGeom>
          <a:noFill/>
        </p:spPr>
        <p:txBody>
          <a:bodyPr wrap="square" lIns="0" rIns="0" tIns="0" bIns="0" anchor="t">
            <a:spAutoFit/>
          </a:bodyPr>
          <a:lstStyle/>
          <a:p>
            <a:pPr algn="r"/>
            <a:r>
              <a:rPr sz="1000" b="0" i="1">
                <a:solidFill>
                  <a:srgbClr val="808090"/>
                </a:solidFill>
                <a:latin typeface="Calibri"/>
              </a:rPr>
              <a:t>-- 7 of 16 --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640080"/>
          </a:xfrm>
          <a:prstGeom prst="rect">
            <a:avLst/>
          </a:prstGeom>
          <a:noFill/>
        </p:spPr>
        <p:txBody>
          <a:bodyPr wrap="square" lIns="0" rIns="0" tIns="0" bIns="0" anchor="t">
            <a:spAutoFit/>
          </a:bodyPr>
          <a:lstStyle/>
          <a:p>
            <a:pPr algn="l"/>
            <a:r>
              <a:rPr sz="3200" b="1" i="0">
                <a:solidFill>
                  <a:srgbClr val="0F1429"/>
                </a:solidFill>
                <a:latin typeface="Calibri"/>
              </a:rPr>
              <a:t>Accuracy &amp; Metrics</a:t>
            </a:r>
          </a:p>
        </p:txBody>
      </p:sp>
      <p:cxnSp>
        <p:nvCxnSpPr>
          <p:cNvPr id="3" name="Connector 2"/>
          <p:cNvCxnSpPr/>
          <p:nvPr/>
        </p:nvCxnSpPr>
        <p:spPr>
          <a:xfrm>
            <a:off x="640080" y="1216152"/>
            <a:ext cx="1280159" cy="0"/>
          </a:xfrm>
          <a:prstGeom prst="line">
            <a:avLst/>
          </a:prstGeom>
          <a:ln w="31750">
            <a:solidFill>
              <a:srgbClr val="6D28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1965960"/>
            <a:ext cx="6400800" cy="365760"/>
          </a:xfrm>
          <a:prstGeom prst="rect">
            <a:avLst/>
          </a:prstGeom>
          <a:noFill/>
        </p:spPr>
        <p:txBody>
          <a:bodyPr wrap="square" lIns="0" rIns="0" tIns="0" bIns="0" anchor="t">
            <a:spAutoFit/>
          </a:bodyPr>
          <a:lstStyle/>
          <a:p>
            <a:pPr algn="l"/>
            <a:r>
              <a:rPr sz="2200" b="1" i="0">
                <a:solidFill>
                  <a:srgbClr val="4C1D95"/>
                </a:solidFill>
                <a:latin typeface="Calibri"/>
              </a:rPr>
              <a:t>LightGBM Regression Panel</a:t>
            </a:r>
          </a:p>
        </p:txBody>
      </p:sp>
      <p:sp>
        <p:nvSpPr>
          <p:cNvPr id="5" name="TextBox 4"/>
          <p:cNvSpPr txBox="1"/>
          <p:nvPr/>
        </p:nvSpPr>
        <p:spPr>
          <a:xfrm>
            <a:off x="822959" y="2468880"/>
            <a:ext cx="6400800" cy="1188720"/>
          </a:xfrm>
          <a:prstGeom prst="rect">
            <a:avLst/>
          </a:prstGeom>
          <a:noFill/>
        </p:spPr>
        <p:txBody>
          <a:bodyPr wrap="square" lIns="0" rIns="0" tIns="0" bIns="0" anchor="t">
            <a:spAutoFit/>
          </a:bodyPr>
          <a:lstStyle/>
          <a:p>
            <a:pPr algn="l">
              <a:lnSpc>
                <a:spcPct val="130000"/>
              </a:lnSpc>
            </a:pPr>
            <a:r>
              <a:rPr sz="1800" b="1" i="0">
                <a:solidFill>
                  <a:srgbClr val="6D28D9"/>
                </a:solidFill>
                <a:latin typeface="Calibri"/>
              </a:rPr>
              <a:t>•  </a:t>
            </a:r>
            <a:r>
              <a:rPr sz="1800" b="0" i="0">
                <a:solidFill>
                  <a:srgbClr val="333340"/>
                </a:solidFill>
                <a:latin typeface="Calibri"/>
              </a:rPr>
              <a:t>Spearman ρ vs next-30d incidents:  0.71</a:t>
            </a:r>
          </a:p>
          <a:p>
            <a:pPr algn="l">
              <a:lnSpc>
                <a:spcPct val="130000"/>
              </a:lnSpc>
            </a:pPr>
            <a:r>
              <a:rPr sz="1800" b="1" i="0">
                <a:solidFill>
                  <a:srgbClr val="6D28D9"/>
                </a:solidFill>
                <a:latin typeface="Calibri"/>
              </a:rPr>
              <a:t>•  </a:t>
            </a:r>
            <a:r>
              <a:rPr sz="1800" b="0" i="0">
                <a:solidFill>
                  <a:srgbClr val="333340"/>
                </a:solidFill>
                <a:latin typeface="Calibri"/>
              </a:rPr>
              <a:t>Top-decile precision (Tier High):  0.83</a:t>
            </a:r>
          </a:p>
          <a:p>
            <a:pPr algn="l">
              <a:lnSpc>
                <a:spcPct val="130000"/>
              </a:lnSpc>
            </a:pPr>
            <a:r>
              <a:rPr sz="1800" b="1" i="0">
                <a:solidFill>
                  <a:srgbClr val="6D28D9"/>
                </a:solidFill>
                <a:latin typeface="Calibri"/>
              </a:rPr>
              <a:t>•  </a:t>
            </a:r>
            <a:r>
              <a:rPr sz="1800" b="0" i="0">
                <a:solidFill>
                  <a:srgbClr val="333340"/>
                </a:solidFill>
                <a:latin typeface="Calibri"/>
              </a:rPr>
              <a:t>Calibration ECE:  0.04</a:t>
            </a:r>
          </a:p>
          <a:p>
            <a:pPr algn="l">
              <a:lnSpc>
                <a:spcPct val="130000"/>
              </a:lnSpc>
            </a:pPr>
            <a:r>
              <a:rPr sz="1800" b="1" i="0">
                <a:solidFill>
                  <a:srgbClr val="6D28D9"/>
                </a:solidFill>
                <a:latin typeface="Calibri"/>
              </a:rPr>
              <a:t>•  </a:t>
            </a:r>
            <a:r>
              <a:rPr sz="1800" b="0" i="0">
                <a:solidFill>
                  <a:srgbClr val="333340"/>
                </a:solidFill>
                <a:latin typeface="Calibri"/>
              </a:rPr>
              <a:t>+12% lift over rolling-mean baseline</a:t>
            </a:r>
          </a:p>
        </p:txBody>
      </p:sp>
      <p:sp>
        <p:nvSpPr>
          <p:cNvPr id="6" name="TextBox 5"/>
          <p:cNvSpPr txBox="1"/>
          <p:nvPr/>
        </p:nvSpPr>
        <p:spPr>
          <a:xfrm>
            <a:off x="640080" y="3977639"/>
            <a:ext cx="6400800" cy="365760"/>
          </a:xfrm>
          <a:prstGeom prst="rect">
            <a:avLst/>
          </a:prstGeom>
          <a:noFill/>
        </p:spPr>
        <p:txBody>
          <a:bodyPr wrap="square" lIns="0" rIns="0" tIns="0" bIns="0" anchor="t">
            <a:spAutoFit/>
          </a:bodyPr>
          <a:lstStyle/>
          <a:p>
            <a:pPr algn="l"/>
            <a:r>
              <a:rPr sz="2200" b="1" i="0">
                <a:solidFill>
                  <a:srgbClr val="4C1D95"/>
                </a:solidFill>
                <a:latin typeface="Calibri"/>
              </a:rPr>
              <a:t>Forecast Component</a:t>
            </a:r>
          </a:p>
        </p:txBody>
      </p:sp>
      <p:sp>
        <p:nvSpPr>
          <p:cNvPr id="7" name="TextBox 6"/>
          <p:cNvSpPr txBox="1"/>
          <p:nvPr/>
        </p:nvSpPr>
        <p:spPr>
          <a:xfrm>
            <a:off x="822959" y="4480560"/>
            <a:ext cx="6400800" cy="1188720"/>
          </a:xfrm>
          <a:prstGeom prst="rect">
            <a:avLst/>
          </a:prstGeom>
          <a:noFill/>
        </p:spPr>
        <p:txBody>
          <a:bodyPr wrap="square" lIns="0" rIns="0" tIns="0" bIns="0" anchor="t">
            <a:spAutoFit/>
          </a:bodyPr>
          <a:lstStyle/>
          <a:p>
            <a:pPr algn="l">
              <a:lnSpc>
                <a:spcPct val="130000"/>
              </a:lnSpc>
            </a:pPr>
            <a:r>
              <a:rPr sz="1800" b="1" i="0">
                <a:solidFill>
                  <a:srgbClr val="6D28D9"/>
                </a:solidFill>
                <a:latin typeface="Calibri"/>
              </a:rPr>
              <a:t>•  </a:t>
            </a:r>
            <a:r>
              <a:rPr sz="1800" b="0" i="0">
                <a:solidFill>
                  <a:srgbClr val="333340"/>
                </a:solidFill>
                <a:latin typeface="Calibri"/>
              </a:rPr>
              <a:t>Damped-linear projection over residual</a:t>
            </a:r>
          </a:p>
          <a:p>
            <a:pPr algn="l">
              <a:lnSpc>
                <a:spcPct val="130000"/>
              </a:lnSpc>
            </a:pPr>
            <a:r>
              <a:rPr sz="1800" b="1" i="0">
                <a:solidFill>
                  <a:srgbClr val="6D28D9"/>
                </a:solidFill>
                <a:latin typeface="Calibri"/>
              </a:rPr>
              <a:t>•  </a:t>
            </a:r>
            <a:r>
              <a:rPr sz="1800" b="0" i="0">
                <a:solidFill>
                  <a:srgbClr val="333340"/>
                </a:solidFill>
                <a:latin typeface="Calibri"/>
              </a:rPr>
              <a:t>Monthly seasonality blend</a:t>
            </a:r>
          </a:p>
          <a:p>
            <a:pPr algn="l">
              <a:lnSpc>
                <a:spcPct val="130000"/>
              </a:lnSpc>
            </a:pPr>
            <a:r>
              <a:rPr sz="1800" b="1" i="0">
                <a:solidFill>
                  <a:srgbClr val="6D28D9"/>
                </a:solidFill>
                <a:latin typeface="Calibri"/>
              </a:rPr>
              <a:t>•  </a:t>
            </a:r>
            <a:r>
              <a:rPr sz="1800" b="0" i="0">
                <a:solidFill>
                  <a:srgbClr val="333340"/>
                </a:solidFill>
                <a:latin typeface="Calibri"/>
              </a:rPr>
              <a:t>80% confidence band — wider on sparse regions</a:t>
            </a:r>
          </a:p>
        </p:txBody>
      </p:sp>
      <p:sp>
        <p:nvSpPr>
          <p:cNvPr id="8" name="TextBox 7"/>
          <p:cNvSpPr txBox="1"/>
          <p:nvPr/>
        </p:nvSpPr>
        <p:spPr>
          <a:xfrm>
            <a:off x="7406640" y="1965960"/>
            <a:ext cx="4144975" cy="365760"/>
          </a:xfrm>
          <a:prstGeom prst="rect">
            <a:avLst/>
          </a:prstGeom>
          <a:noFill/>
        </p:spPr>
        <p:txBody>
          <a:bodyPr wrap="square" lIns="0" rIns="0" tIns="0" bIns="0" anchor="t">
            <a:spAutoFit/>
          </a:bodyPr>
          <a:lstStyle/>
          <a:p>
            <a:pPr algn="l"/>
            <a:r>
              <a:rPr sz="2200" b="1" i="0">
                <a:solidFill>
                  <a:srgbClr val="4C1D95"/>
                </a:solidFill>
                <a:latin typeface="Calibri"/>
              </a:rPr>
              <a:t>Methodology</a:t>
            </a:r>
          </a:p>
        </p:txBody>
      </p:sp>
      <p:sp>
        <p:nvSpPr>
          <p:cNvPr id="9" name="TextBox 8"/>
          <p:cNvSpPr txBox="1"/>
          <p:nvPr/>
        </p:nvSpPr>
        <p:spPr>
          <a:xfrm>
            <a:off x="7589519" y="2468880"/>
            <a:ext cx="3962095" cy="3657600"/>
          </a:xfrm>
          <a:prstGeom prst="rect">
            <a:avLst/>
          </a:prstGeom>
          <a:noFill/>
        </p:spPr>
        <p:txBody>
          <a:bodyPr wrap="square" lIns="0" rIns="0" tIns="0" bIns="0" anchor="t">
            <a:spAutoFit/>
          </a:bodyPr>
          <a:lstStyle/>
          <a:p>
            <a:pPr algn="l">
              <a:lnSpc>
                <a:spcPct val="130000"/>
              </a:lnSpc>
            </a:pPr>
            <a:r>
              <a:rPr sz="1400" b="1" i="0">
                <a:solidFill>
                  <a:srgbClr val="6D28D9"/>
                </a:solidFill>
                <a:latin typeface="Calibri"/>
              </a:rPr>
              <a:t>•  </a:t>
            </a:r>
            <a:r>
              <a:rPr sz="1400" b="0" i="0">
                <a:solidFill>
                  <a:srgbClr val="333340"/>
                </a:solidFill>
                <a:latin typeface="Calibri"/>
              </a:rPr>
              <a:t>Time-aware split — no future leakage</a:t>
            </a:r>
          </a:p>
          <a:p>
            <a:pPr algn="l">
              <a:lnSpc>
                <a:spcPct val="130000"/>
              </a:lnSpc>
            </a:pPr>
            <a:r>
              <a:rPr sz="1400" b="1" i="0">
                <a:solidFill>
                  <a:srgbClr val="6D28D9"/>
                </a:solidFill>
                <a:latin typeface="Calibri"/>
              </a:rPr>
              <a:t>•  </a:t>
            </a:r>
            <a:r>
              <a:rPr sz="1400" b="0" i="0">
                <a:solidFill>
                  <a:srgbClr val="333340"/>
                </a:solidFill>
                <a:latin typeface="Calibri"/>
              </a:rPr>
              <a:t>Per-region SHAP for explanations</a:t>
            </a:r>
          </a:p>
          <a:p>
            <a:pPr algn="l">
              <a:lnSpc>
                <a:spcPct val="130000"/>
              </a:lnSpc>
            </a:pPr>
            <a:r>
              <a:rPr sz="1400" b="1" i="0">
                <a:solidFill>
                  <a:srgbClr val="6D28D9"/>
                </a:solidFill>
                <a:latin typeface="Calibri"/>
              </a:rPr>
              <a:t>•  </a:t>
            </a:r>
            <a:r>
              <a:rPr sz="1400" b="0" i="0">
                <a:solidFill>
                  <a:srgbClr val="333340"/>
                </a:solidFill>
                <a:latin typeface="Calibri"/>
              </a:rPr>
              <a:t>MLflow-tracked retrains; replace only on metric improvement</a:t>
            </a:r>
          </a:p>
          <a:p>
            <a:pPr algn="l">
              <a:lnSpc>
                <a:spcPct val="130000"/>
              </a:lnSpc>
            </a:pPr>
            <a:r>
              <a:rPr sz="1400" b="1" i="0">
                <a:solidFill>
                  <a:srgbClr val="6D28D9"/>
                </a:solidFill>
                <a:latin typeface="Calibri"/>
              </a:rPr>
              <a:t>•  </a:t>
            </a:r>
            <a:r>
              <a:rPr sz="1400" b="0" i="0">
                <a:solidFill>
                  <a:srgbClr val="333340"/>
                </a:solidFill>
                <a:latin typeface="Calibri"/>
              </a:rPr>
              <a:t>Honest scope: headline numbers from Chicago hold-out — UK MSOA re-eval in progress, surfaced in Trust Passport</a:t>
            </a:r>
          </a:p>
        </p:txBody>
      </p:sp>
      <p:sp>
        <p:nvSpPr>
          <p:cNvPr id="10" name="TextBox 9"/>
          <p:cNvSpPr txBox="1"/>
          <p:nvPr/>
        </p:nvSpPr>
        <p:spPr>
          <a:xfrm>
            <a:off x="11094415" y="6492240"/>
            <a:ext cx="457200" cy="274320"/>
          </a:xfrm>
          <a:prstGeom prst="rect">
            <a:avLst/>
          </a:prstGeom>
          <a:noFill/>
        </p:spPr>
        <p:txBody>
          <a:bodyPr wrap="square" lIns="0" rIns="0" tIns="0" bIns="0" anchor="t">
            <a:spAutoFit/>
          </a:bodyPr>
          <a:lstStyle/>
          <a:p>
            <a:pPr algn="r"/>
            <a:r>
              <a:rPr sz="1000" b="0" i="1">
                <a:solidFill>
                  <a:srgbClr val="808090"/>
                </a:solidFill>
                <a:latin typeface="Calibri"/>
              </a:rPr>
              <a:t>-- 8 of 16 --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640080"/>
          </a:xfrm>
          <a:prstGeom prst="rect">
            <a:avLst/>
          </a:prstGeom>
          <a:noFill/>
        </p:spPr>
        <p:txBody>
          <a:bodyPr wrap="square" lIns="0" rIns="0" tIns="0" bIns="0" anchor="t">
            <a:spAutoFit/>
          </a:bodyPr>
          <a:lstStyle/>
          <a:p>
            <a:pPr algn="l"/>
            <a:r>
              <a:rPr sz="3200" b="1" i="0">
                <a:solidFill>
                  <a:srgbClr val="0F1429"/>
                </a:solidFill>
                <a:latin typeface="Calibri"/>
              </a:rPr>
              <a:t>Scalability</a:t>
            </a:r>
          </a:p>
        </p:txBody>
      </p:sp>
      <p:cxnSp>
        <p:nvCxnSpPr>
          <p:cNvPr id="3" name="Connector 2"/>
          <p:cNvCxnSpPr/>
          <p:nvPr/>
        </p:nvCxnSpPr>
        <p:spPr>
          <a:xfrm>
            <a:off x="640080" y="1216152"/>
            <a:ext cx="1280159" cy="0"/>
          </a:xfrm>
          <a:prstGeom prst="line">
            <a:avLst/>
          </a:prstGeom>
          <a:ln w="31750">
            <a:solidFill>
              <a:srgbClr val="6D28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2959" y="1874519"/>
            <a:ext cx="10545775" cy="4572000"/>
          </a:xfrm>
          <a:prstGeom prst="rect">
            <a:avLst/>
          </a:prstGeom>
          <a:noFill/>
        </p:spPr>
        <p:txBody>
          <a:bodyPr wrap="square" lIns="0" rIns="0" tIns="0" bIns="0" anchor="t">
            <a:spAutoFit/>
          </a:bodyPr>
          <a:lstStyle/>
          <a:p>
            <a:pPr algn="l">
              <a:lnSpc>
                <a:spcPct val="150000"/>
              </a:lnSpc>
            </a:pPr>
            <a:r>
              <a:rPr sz="2200" b="1" i="0">
                <a:solidFill>
                  <a:srgbClr val="6D28D9"/>
                </a:solidFill>
                <a:latin typeface="Calibri"/>
              </a:rPr>
              <a:t>•  </a:t>
            </a:r>
            <a:r>
              <a:rPr sz="2200" b="0" i="0">
                <a:solidFill>
                  <a:srgbClr val="333340"/>
                </a:solidFill>
                <a:latin typeface="Calibri"/>
              </a:rPr>
              <a:t>Other countries — backend already supports city = chicago (1,332 Cook County tracts wired)</a:t>
            </a:r>
          </a:p>
          <a:p>
            <a:pPr algn="l">
              <a:lnSpc>
                <a:spcPct val="150000"/>
              </a:lnSpc>
            </a:pPr>
            <a:r>
              <a:rPr sz="2200" b="1" i="0">
                <a:solidFill>
                  <a:srgbClr val="6D28D9"/>
                </a:solidFill>
                <a:latin typeface="Calibri"/>
              </a:rPr>
              <a:t>•  </a:t>
            </a:r>
            <a:r>
              <a:rPr sz="2200" b="0" i="0">
                <a:solidFill>
                  <a:srgbClr val="333340"/>
                </a:solidFill>
                <a:latin typeface="Calibri"/>
              </a:rPr>
              <a:t>Other geographies — England &amp; Wales LSOA detail (~35,000 regions) ready as a higher-resolution mode</a:t>
            </a:r>
          </a:p>
          <a:p>
            <a:pPr algn="l">
              <a:lnSpc>
                <a:spcPct val="150000"/>
              </a:lnSpc>
            </a:pPr>
            <a:r>
              <a:rPr sz="2200" b="1" i="0">
                <a:solidFill>
                  <a:srgbClr val="6D28D9"/>
                </a:solidFill>
                <a:latin typeface="Calibri"/>
              </a:rPr>
              <a:t>•  </a:t>
            </a:r>
            <a:r>
              <a:rPr sz="2200" b="0" i="0">
                <a:solidFill>
                  <a:srgbClr val="333340"/>
                </a:solidFill>
                <a:latin typeface="Calibri"/>
              </a:rPr>
              <a:t>Other personas — six built in (insurance, real-estate, public-safety, logistics, civic, journalist)</a:t>
            </a:r>
          </a:p>
          <a:p>
            <a:pPr algn="l">
              <a:lnSpc>
                <a:spcPct val="150000"/>
              </a:lnSpc>
            </a:pPr>
            <a:r>
              <a:rPr sz="2200" b="1" i="0">
                <a:solidFill>
                  <a:srgbClr val="6D28D9"/>
                </a:solidFill>
                <a:latin typeface="Calibri"/>
              </a:rPr>
              <a:t>•  </a:t>
            </a:r>
            <a:r>
              <a:rPr sz="2200" b="0" i="0">
                <a:solidFill>
                  <a:srgbClr val="333340"/>
                </a:solidFill>
                <a:latin typeface="Calibri"/>
              </a:rPr>
              <a:t>Other surfaces — same FastAPI backend serves Next.js web frontend and could power third-party APIs</a:t>
            </a:r>
          </a:p>
        </p:txBody>
      </p:sp>
      <p:sp>
        <p:nvSpPr>
          <p:cNvPr id="5" name="TextBox 4"/>
          <p:cNvSpPr txBox="1"/>
          <p:nvPr/>
        </p:nvSpPr>
        <p:spPr>
          <a:xfrm>
            <a:off x="11094415" y="6492240"/>
            <a:ext cx="457200" cy="274320"/>
          </a:xfrm>
          <a:prstGeom prst="rect">
            <a:avLst/>
          </a:prstGeom>
          <a:noFill/>
        </p:spPr>
        <p:txBody>
          <a:bodyPr wrap="square" lIns="0" rIns="0" tIns="0" bIns="0" anchor="t">
            <a:spAutoFit/>
          </a:bodyPr>
          <a:lstStyle/>
          <a:p>
            <a:pPr algn="r"/>
            <a:r>
              <a:rPr sz="1000" b="0" i="1">
                <a:solidFill>
                  <a:srgbClr val="808090"/>
                </a:solidFill>
                <a:latin typeface="Calibri"/>
              </a:rPr>
              <a:t>-- 9 of 16 --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640080"/>
          </a:xfrm>
          <a:prstGeom prst="rect">
            <a:avLst/>
          </a:prstGeom>
          <a:noFill/>
        </p:spPr>
        <p:txBody>
          <a:bodyPr wrap="square" lIns="0" rIns="0" tIns="0" bIns="0" anchor="t">
            <a:spAutoFit/>
          </a:bodyPr>
          <a:lstStyle/>
          <a:p>
            <a:pPr algn="l"/>
            <a:r>
              <a:rPr sz="3200" b="1" i="0">
                <a:solidFill>
                  <a:srgbClr val="0F1429"/>
                </a:solidFill>
                <a:latin typeface="Calibri"/>
              </a:rPr>
              <a:t>Industry Fit &amp; Generalization</a:t>
            </a:r>
          </a:p>
        </p:txBody>
      </p:sp>
      <p:cxnSp>
        <p:nvCxnSpPr>
          <p:cNvPr id="3" name="Connector 2"/>
          <p:cNvCxnSpPr/>
          <p:nvPr/>
        </p:nvCxnSpPr>
        <p:spPr>
          <a:xfrm>
            <a:off x="640080" y="1216152"/>
            <a:ext cx="1280159" cy="0"/>
          </a:xfrm>
          <a:prstGeom prst="line">
            <a:avLst/>
          </a:prstGeom>
          <a:ln w="31750">
            <a:solidFill>
              <a:srgbClr val="6D28D9"/>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640080" y="1783080"/>
            <a:ext cx="5181447" cy="3931920"/>
          </a:xfrm>
          <a:prstGeom prst="roundRect">
            <a:avLst>
              <a:gd name="adj" fmla="val 4000"/>
            </a:avLst>
          </a:prstGeom>
          <a:solidFill>
            <a:srgbClr val="EE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65960"/>
            <a:ext cx="4632807" cy="365760"/>
          </a:xfrm>
          <a:prstGeom prst="rect">
            <a:avLst/>
          </a:prstGeom>
          <a:noFill/>
        </p:spPr>
        <p:txBody>
          <a:bodyPr wrap="square" lIns="0" rIns="0" tIns="0" bIns="0" anchor="t">
            <a:spAutoFit/>
          </a:bodyPr>
          <a:lstStyle/>
          <a:p>
            <a:pPr algn="l"/>
            <a:r>
              <a:rPr sz="1100" b="1" i="0">
                <a:solidFill>
                  <a:srgbClr val="4C1D95"/>
                </a:solidFill>
                <a:latin typeface="Calibri"/>
              </a:rPr>
              <a:t>INSURER</a:t>
            </a:r>
          </a:p>
        </p:txBody>
      </p:sp>
      <p:sp>
        <p:nvSpPr>
          <p:cNvPr id="6" name="TextBox 5"/>
          <p:cNvSpPr txBox="1"/>
          <p:nvPr/>
        </p:nvSpPr>
        <p:spPr>
          <a:xfrm>
            <a:off x="914400" y="2240280"/>
            <a:ext cx="4632807" cy="457200"/>
          </a:xfrm>
          <a:prstGeom prst="rect">
            <a:avLst/>
          </a:prstGeom>
          <a:noFill/>
        </p:spPr>
        <p:txBody>
          <a:bodyPr wrap="square" lIns="0" rIns="0" tIns="0" bIns="0" anchor="t">
            <a:spAutoFit/>
          </a:bodyPr>
          <a:lstStyle/>
          <a:p>
            <a:pPr algn="l"/>
            <a:r>
              <a:rPr sz="2200" b="1" i="0">
                <a:solidFill>
                  <a:srgbClr val="0F1429"/>
                </a:solidFill>
                <a:latin typeface="Calibri"/>
              </a:rPr>
              <a:t>City of London 001</a:t>
            </a:r>
          </a:p>
        </p:txBody>
      </p:sp>
      <p:sp>
        <p:nvSpPr>
          <p:cNvPr id="7" name="TextBox 6"/>
          <p:cNvSpPr txBox="1"/>
          <p:nvPr/>
        </p:nvSpPr>
        <p:spPr>
          <a:xfrm>
            <a:off x="914400" y="2880360"/>
            <a:ext cx="4632807" cy="2743200"/>
          </a:xfrm>
          <a:prstGeom prst="rect">
            <a:avLst/>
          </a:prstGeom>
          <a:noFill/>
        </p:spPr>
        <p:txBody>
          <a:bodyPr wrap="square" lIns="0" rIns="0" tIns="0" bIns="0" anchor="t">
            <a:spAutoFit/>
          </a:bodyPr>
          <a:lstStyle/>
          <a:p>
            <a:pPr algn="l">
              <a:lnSpc>
                <a:spcPct val="130000"/>
              </a:lnSpc>
            </a:pPr>
            <a:r>
              <a:rPr sz="1800" b="1" i="0">
                <a:solidFill>
                  <a:srgbClr val="6D28D9"/>
                </a:solidFill>
                <a:latin typeface="Calibri"/>
              </a:rPr>
              <a:t>•  </a:t>
            </a:r>
            <a:r>
              <a:rPr sz="1800" b="0" i="0">
                <a:solidFill>
                  <a:srgbClr val="333340"/>
                </a:solidFill>
                <a:latin typeface="Calibri"/>
              </a:rPr>
              <a:t>Base premium:  £1,000</a:t>
            </a:r>
          </a:p>
          <a:p>
            <a:pPr algn="l">
              <a:lnSpc>
                <a:spcPct val="130000"/>
              </a:lnSpc>
            </a:pPr>
            <a:r>
              <a:rPr sz="1800" b="1" i="0">
                <a:solidFill>
                  <a:srgbClr val="6D28D9"/>
                </a:solidFill>
                <a:latin typeface="Calibri"/>
              </a:rPr>
              <a:t>•  </a:t>
            </a:r>
            <a:r>
              <a:rPr sz="1800" b="0" i="0">
                <a:solidFill>
                  <a:srgbClr val="333340"/>
                </a:solidFill>
                <a:latin typeface="Calibri"/>
              </a:rPr>
              <a:t>Risk score:  56  (Elevated)</a:t>
            </a:r>
          </a:p>
          <a:p>
            <a:pPr algn="l">
              <a:lnSpc>
                <a:spcPct val="130000"/>
              </a:lnSpc>
            </a:pPr>
            <a:r>
              <a:rPr sz="1800" b="1" i="0">
                <a:solidFill>
                  <a:srgbClr val="6D28D9"/>
                </a:solidFill>
                <a:latin typeface="Calibri"/>
              </a:rPr>
              <a:t>•  </a:t>
            </a:r>
            <a:r>
              <a:rPr sz="1800" b="0" i="0">
                <a:solidFill>
                  <a:srgbClr val="333340"/>
                </a:solidFill>
                <a:latin typeface="Calibri"/>
              </a:rPr>
              <a:t>Multiplier:  1.218 ×</a:t>
            </a:r>
          </a:p>
          <a:p>
            <a:pPr algn="l">
              <a:lnSpc>
                <a:spcPct val="130000"/>
              </a:lnSpc>
            </a:pPr>
            <a:r>
              <a:rPr sz="1800" b="1" i="0">
                <a:solidFill>
                  <a:srgbClr val="6D28D9"/>
                </a:solidFill>
                <a:latin typeface="Calibri"/>
              </a:rPr>
              <a:t>•  </a:t>
            </a:r>
            <a:r>
              <a:rPr sz="1800" b="0" i="0">
                <a:solidFill>
                  <a:srgbClr val="333340"/>
                </a:solidFill>
                <a:latin typeface="Calibri"/>
              </a:rPr>
              <a:t>Suggested:  £1,218  ·  surcharge band</a:t>
            </a:r>
          </a:p>
          <a:p>
            <a:pPr algn="l">
              <a:lnSpc>
                <a:spcPct val="130000"/>
              </a:lnSpc>
            </a:pPr>
            <a:r>
              <a:rPr sz="1800" b="1" i="0">
                <a:solidFill>
                  <a:srgbClr val="6D28D9"/>
                </a:solidFill>
                <a:latin typeface="Calibri"/>
              </a:rPr>
              <a:t>•  </a:t>
            </a:r>
            <a:r>
              <a:rPr sz="1800" b="0" i="0">
                <a:solidFill>
                  <a:srgbClr val="333340"/>
                </a:solidFill>
                <a:latin typeface="Calibri"/>
              </a:rPr>
              <a:t>Driver:  ML rolling-mean trend (+21.2%)</a:t>
            </a:r>
          </a:p>
        </p:txBody>
      </p:sp>
      <p:sp>
        <p:nvSpPr>
          <p:cNvPr id="8" name="Rounded Rectangle 7"/>
          <p:cNvSpPr/>
          <p:nvPr/>
        </p:nvSpPr>
        <p:spPr>
          <a:xfrm>
            <a:off x="6370167" y="1783080"/>
            <a:ext cx="5181447" cy="3931920"/>
          </a:xfrm>
          <a:prstGeom prst="roundRect">
            <a:avLst>
              <a:gd name="adj" fmla="val 4000"/>
            </a:avLst>
          </a:prstGeom>
          <a:solidFill>
            <a:srgbClr val="0F1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44487" y="1965960"/>
            <a:ext cx="4632807" cy="365760"/>
          </a:xfrm>
          <a:prstGeom prst="rect">
            <a:avLst/>
          </a:prstGeom>
          <a:noFill/>
        </p:spPr>
        <p:txBody>
          <a:bodyPr wrap="square" lIns="0" rIns="0" tIns="0" bIns="0" anchor="t">
            <a:spAutoFit/>
          </a:bodyPr>
          <a:lstStyle/>
          <a:p>
            <a:pPr algn="l"/>
            <a:r>
              <a:rPr sz="1100" b="1" i="0">
                <a:solidFill>
                  <a:srgbClr val="EEE6FF"/>
                </a:solidFill>
                <a:latin typeface="Calibri"/>
              </a:rPr>
              <a:t>REAL ESTATE</a:t>
            </a:r>
          </a:p>
        </p:txBody>
      </p:sp>
      <p:sp>
        <p:nvSpPr>
          <p:cNvPr id="10" name="TextBox 9"/>
          <p:cNvSpPr txBox="1"/>
          <p:nvPr/>
        </p:nvSpPr>
        <p:spPr>
          <a:xfrm>
            <a:off x="6644487" y="2240280"/>
            <a:ext cx="4632807" cy="457200"/>
          </a:xfrm>
          <a:prstGeom prst="rect">
            <a:avLst/>
          </a:prstGeom>
          <a:noFill/>
        </p:spPr>
        <p:txBody>
          <a:bodyPr wrap="square" lIns="0" rIns="0" tIns="0" bIns="0" anchor="t">
            <a:spAutoFit/>
          </a:bodyPr>
          <a:lstStyle/>
          <a:p>
            <a:pPr algn="l"/>
            <a:r>
              <a:rPr sz="2200" b="1" i="0">
                <a:solidFill>
                  <a:srgbClr val="FFFFFF"/>
                </a:solidFill>
                <a:latin typeface="Calibri"/>
              </a:rPr>
              <a:t>Same MSOA, different lens</a:t>
            </a:r>
          </a:p>
        </p:txBody>
      </p:sp>
      <p:sp>
        <p:nvSpPr>
          <p:cNvPr id="11" name="TextBox 10"/>
          <p:cNvSpPr txBox="1"/>
          <p:nvPr/>
        </p:nvSpPr>
        <p:spPr>
          <a:xfrm>
            <a:off x="6644487" y="2880360"/>
            <a:ext cx="4632807" cy="2743200"/>
          </a:xfrm>
          <a:prstGeom prst="rect">
            <a:avLst/>
          </a:prstGeom>
          <a:noFill/>
        </p:spPr>
        <p:txBody>
          <a:bodyPr wrap="square" lIns="0" rIns="0" tIns="0" bIns="0" anchor="t">
            <a:spAutoFit/>
          </a:bodyPr>
          <a:lstStyle/>
          <a:p>
            <a:pPr algn="l">
              <a:lnSpc>
                <a:spcPct val="130000"/>
              </a:lnSpc>
            </a:pPr>
            <a:r>
              <a:rPr sz="1800" b="1" i="0">
                <a:solidFill>
                  <a:srgbClr val="6D28D9"/>
                </a:solidFill>
                <a:latin typeface="Calibri"/>
              </a:rPr>
              <a:t>•  </a:t>
            </a:r>
            <a:r>
              <a:rPr sz="1800" b="0" i="0">
                <a:solidFill>
                  <a:srgbClr val="FFFFFF"/>
                </a:solidFill>
                <a:latin typeface="Calibri"/>
              </a:rPr>
              <a:t>Property pricing pressure:  moderate downward</a:t>
            </a:r>
          </a:p>
          <a:p>
            <a:pPr algn="l">
              <a:lnSpc>
                <a:spcPct val="130000"/>
              </a:lnSpc>
            </a:pPr>
            <a:r>
              <a:rPr sz="1800" b="1" i="0">
                <a:solidFill>
                  <a:srgbClr val="6D28D9"/>
                </a:solidFill>
                <a:latin typeface="Calibri"/>
              </a:rPr>
              <a:t>•  </a:t>
            </a:r>
            <a:r>
              <a:rPr sz="1800" b="0" i="0">
                <a:solidFill>
                  <a:srgbClr val="FFFFFF"/>
                </a:solidFill>
                <a:latin typeface="Calibri"/>
              </a:rPr>
              <a:t>Diligence flag:  ↑ trend in robbery sub-score</a:t>
            </a:r>
          </a:p>
          <a:p>
            <a:pPr algn="l">
              <a:lnSpc>
                <a:spcPct val="130000"/>
              </a:lnSpc>
            </a:pPr>
            <a:r>
              <a:rPr sz="1800" b="1" i="0">
                <a:solidFill>
                  <a:srgbClr val="6D28D9"/>
                </a:solidFill>
                <a:latin typeface="Calibri"/>
              </a:rPr>
              <a:t>•  </a:t>
            </a:r>
            <a:r>
              <a:rPr sz="1800" b="0" i="0">
                <a:solidFill>
                  <a:srgbClr val="FFFFFF"/>
                </a:solidFill>
                <a:latin typeface="Calibri"/>
              </a:rPr>
              <a:t>Recommended:  3-month watch before listing</a:t>
            </a:r>
          </a:p>
          <a:p>
            <a:pPr algn="l">
              <a:lnSpc>
                <a:spcPct val="130000"/>
              </a:lnSpc>
            </a:pPr>
            <a:r>
              <a:rPr sz="1800" b="1" i="0">
                <a:solidFill>
                  <a:srgbClr val="6D28D9"/>
                </a:solidFill>
                <a:latin typeface="Calibri"/>
              </a:rPr>
              <a:t>•  </a:t>
            </a:r>
            <a:r>
              <a:rPr sz="1800" b="0" i="0">
                <a:solidFill>
                  <a:srgbClr val="FFFFFF"/>
                </a:solidFill>
                <a:latin typeface="Calibri"/>
              </a:rPr>
              <a:t>Comparable MSOAs:  ranked by score + trend</a:t>
            </a:r>
          </a:p>
          <a:p>
            <a:pPr algn="l">
              <a:lnSpc>
                <a:spcPct val="130000"/>
              </a:lnSpc>
            </a:pPr>
            <a:r>
              <a:rPr sz="1800" b="1" i="0">
                <a:solidFill>
                  <a:srgbClr val="6D28D9"/>
                </a:solidFill>
                <a:latin typeface="Calibri"/>
              </a:rPr>
              <a:t>•  </a:t>
            </a:r>
            <a:r>
              <a:rPr sz="1800" b="0" i="0">
                <a:solidFill>
                  <a:srgbClr val="FFFFFF"/>
                </a:solidFill>
                <a:latin typeface="Calibri"/>
              </a:rPr>
              <a:t>All from the same backend payload — persona is a UI lens</a:t>
            </a:r>
          </a:p>
        </p:txBody>
      </p:sp>
      <p:sp>
        <p:nvSpPr>
          <p:cNvPr id="12" name="TextBox 11"/>
          <p:cNvSpPr txBox="1"/>
          <p:nvPr/>
        </p:nvSpPr>
        <p:spPr>
          <a:xfrm>
            <a:off x="11094415" y="6492240"/>
            <a:ext cx="457200" cy="274320"/>
          </a:xfrm>
          <a:prstGeom prst="rect">
            <a:avLst/>
          </a:prstGeom>
          <a:noFill/>
        </p:spPr>
        <p:txBody>
          <a:bodyPr wrap="square" lIns="0" rIns="0" tIns="0" bIns="0" anchor="t">
            <a:spAutoFit/>
          </a:bodyPr>
          <a:lstStyle/>
          <a:p>
            <a:pPr algn="r"/>
            <a:r>
              <a:rPr sz="1000" b="0" i="1">
                <a:solidFill>
                  <a:srgbClr val="808090"/>
                </a:solidFill>
                <a:latin typeface="Calibri"/>
              </a:rPr>
              <a:t>-- 10 of 16 --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640080"/>
          </a:xfrm>
          <a:prstGeom prst="rect">
            <a:avLst/>
          </a:prstGeom>
          <a:noFill/>
        </p:spPr>
        <p:txBody>
          <a:bodyPr wrap="square" lIns="0" rIns="0" tIns="0" bIns="0" anchor="t">
            <a:spAutoFit/>
          </a:bodyPr>
          <a:lstStyle/>
          <a:p>
            <a:pPr algn="l"/>
            <a:r>
              <a:rPr sz="3200" b="1" i="0">
                <a:solidFill>
                  <a:srgbClr val="0F1429"/>
                </a:solidFill>
                <a:latin typeface="Calibri"/>
              </a:rPr>
              <a:t>Cost Comparison</a:t>
            </a:r>
          </a:p>
        </p:txBody>
      </p:sp>
      <p:cxnSp>
        <p:nvCxnSpPr>
          <p:cNvPr id="3" name="Connector 2"/>
          <p:cNvCxnSpPr/>
          <p:nvPr/>
        </p:nvCxnSpPr>
        <p:spPr>
          <a:xfrm>
            <a:off x="640080" y="1216152"/>
            <a:ext cx="1280159" cy="0"/>
          </a:xfrm>
          <a:prstGeom prst="line">
            <a:avLst/>
          </a:prstGeom>
          <a:ln w="31750">
            <a:solidFill>
              <a:srgbClr val="6D28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2959" y="1783080"/>
            <a:ext cx="5486400" cy="3657600"/>
          </a:xfrm>
          <a:prstGeom prst="rect">
            <a:avLst/>
          </a:prstGeom>
          <a:noFill/>
        </p:spPr>
        <p:txBody>
          <a:bodyPr wrap="square" lIns="0" rIns="0" tIns="0" bIns="0" anchor="t">
            <a:spAutoFit/>
          </a:bodyPr>
          <a:lstStyle/>
          <a:p>
            <a:pPr algn="l">
              <a:lnSpc>
                <a:spcPct val="130000"/>
              </a:lnSpc>
            </a:pPr>
            <a:r>
              <a:rPr sz="1800" b="1" i="0">
                <a:solidFill>
                  <a:srgbClr val="6D28D9"/>
                </a:solidFill>
                <a:latin typeface="Calibri"/>
              </a:rPr>
              <a:t>•  </a:t>
            </a:r>
            <a:r>
              <a:rPr sz="1800" b="0" i="0">
                <a:solidFill>
                  <a:srgbClr val="333340"/>
                </a:solidFill>
                <a:latin typeface="Calibri"/>
              </a:rPr>
              <a:t>1 analyst-day to produce one defensible MSOA risk brief ($400 at $50/hr × 8hr)</a:t>
            </a:r>
          </a:p>
          <a:p>
            <a:pPr algn="l">
              <a:lnSpc>
                <a:spcPct val="130000"/>
              </a:lnSpc>
            </a:pPr>
            <a:r>
              <a:rPr sz="1800" b="1" i="0">
                <a:solidFill>
                  <a:srgbClr val="6D28D9"/>
                </a:solidFill>
                <a:latin typeface="Calibri"/>
              </a:rPr>
              <a:t>•  </a:t>
            </a:r>
            <a:r>
              <a:rPr sz="1800" b="0" i="0">
                <a:solidFill>
                  <a:srgbClr val="333340"/>
                </a:solidFill>
                <a:latin typeface="Calibri"/>
              </a:rPr>
              <a:t>CrimeScope:  instant, ~$0 marginal cost per brief (JSON cache + arithmetic)</a:t>
            </a:r>
          </a:p>
          <a:p>
            <a:pPr algn="l">
              <a:lnSpc>
                <a:spcPct val="130000"/>
              </a:lnSpc>
            </a:pPr>
            <a:r>
              <a:rPr sz="1800" b="1" i="0">
                <a:solidFill>
                  <a:srgbClr val="6D28D9"/>
                </a:solidFill>
                <a:latin typeface="Calibri"/>
              </a:rPr>
              <a:t>•  </a:t>
            </a:r>
            <a:r>
              <a:rPr sz="1800" b="0" i="0">
                <a:solidFill>
                  <a:srgbClr val="333340"/>
                </a:solidFill>
                <a:latin typeface="Calibri"/>
              </a:rPr>
              <a:t>Full England &amp; Wales sweep:  $2.9M of analyst-time saved (7,264 regions × $400)</a:t>
            </a:r>
          </a:p>
          <a:p>
            <a:pPr algn="l">
              <a:lnSpc>
                <a:spcPct val="130000"/>
              </a:lnSpc>
            </a:pPr>
            <a:r>
              <a:rPr sz="1800" b="1" i="0">
                <a:solidFill>
                  <a:srgbClr val="6D28D9"/>
                </a:solidFill>
                <a:latin typeface="Calibri"/>
              </a:rPr>
              <a:t>•  </a:t>
            </a:r>
            <a:r>
              <a:rPr sz="1800" b="0" i="0">
                <a:solidFill>
                  <a:srgbClr val="333340"/>
                </a:solidFill>
                <a:latin typeface="Calibri"/>
              </a:rPr>
              <a:t>API serving cost at scale:  pennies per region per month</a:t>
            </a:r>
          </a:p>
        </p:txBody>
      </p:sp>
      <p:sp>
        <p:nvSpPr>
          <p:cNvPr id="5" name="Rounded Rectangle 4"/>
          <p:cNvSpPr/>
          <p:nvPr/>
        </p:nvSpPr>
        <p:spPr>
          <a:xfrm>
            <a:off x="6675120" y="1691640"/>
            <a:ext cx="4846320" cy="4206240"/>
          </a:xfrm>
          <a:prstGeom prst="roundRect">
            <a:avLst>
              <a:gd name="adj" fmla="val 4000"/>
            </a:avLst>
          </a:prstGeom>
          <a:solidFill>
            <a:srgbClr val="FFFFFF"/>
          </a:solidFill>
          <a:ln w="12700">
            <a:solidFill>
              <a:srgbClr val="E5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0" y="1874520"/>
            <a:ext cx="4297680" cy="274320"/>
          </a:xfrm>
          <a:prstGeom prst="rect">
            <a:avLst/>
          </a:prstGeom>
          <a:noFill/>
        </p:spPr>
        <p:txBody>
          <a:bodyPr wrap="square" lIns="0" rIns="0" tIns="0" bIns="0" anchor="t">
            <a:spAutoFit/>
          </a:bodyPr>
          <a:lstStyle/>
          <a:p>
            <a:pPr algn="l"/>
            <a:r>
              <a:rPr sz="1100" b="1" i="0">
                <a:solidFill>
                  <a:srgbClr val="808090"/>
                </a:solidFill>
                <a:latin typeface="Calibri"/>
              </a:rPr>
              <a:t>PER-BRIEF COST</a:t>
            </a:r>
          </a:p>
        </p:txBody>
      </p:sp>
      <p:sp>
        <p:nvSpPr>
          <p:cNvPr id="7" name="TextBox 6"/>
          <p:cNvSpPr txBox="1"/>
          <p:nvPr/>
        </p:nvSpPr>
        <p:spPr>
          <a:xfrm>
            <a:off x="6949440" y="2130552"/>
            <a:ext cx="4297680" cy="365760"/>
          </a:xfrm>
          <a:prstGeom prst="rect">
            <a:avLst/>
          </a:prstGeom>
          <a:noFill/>
        </p:spPr>
        <p:txBody>
          <a:bodyPr wrap="square" lIns="0" rIns="0" tIns="0" bIns="0" anchor="t">
            <a:spAutoFit/>
          </a:bodyPr>
          <a:lstStyle/>
          <a:p>
            <a:pPr algn="l"/>
            <a:r>
              <a:rPr sz="2200" b="1" i="0">
                <a:solidFill>
                  <a:srgbClr val="0F1429"/>
                </a:solidFill>
                <a:latin typeface="Calibri"/>
              </a:rPr>
              <a:t>Analyst vs CrimeScope</a:t>
            </a:r>
          </a:p>
        </p:txBody>
      </p:sp>
      <p:sp>
        <p:nvSpPr>
          <p:cNvPr id="8" name="TextBox 7"/>
          <p:cNvSpPr txBox="1"/>
          <p:nvPr/>
        </p:nvSpPr>
        <p:spPr>
          <a:xfrm>
            <a:off x="6949440" y="2788920"/>
            <a:ext cx="1280160" cy="594360"/>
          </a:xfrm>
          <a:prstGeom prst="rect">
            <a:avLst/>
          </a:prstGeom>
          <a:noFill/>
        </p:spPr>
        <p:txBody>
          <a:bodyPr wrap="square" lIns="0" rIns="0" tIns="0" bIns="0" anchor="ctr">
            <a:spAutoFit/>
          </a:bodyPr>
          <a:lstStyle/>
          <a:p>
            <a:pPr algn="l"/>
            <a:r>
              <a:rPr sz="1800" b="1" i="0">
                <a:solidFill>
                  <a:srgbClr val="0F1429"/>
                </a:solidFill>
                <a:latin typeface="Calibri"/>
              </a:rPr>
              <a:t>Analyst</a:t>
            </a:r>
          </a:p>
        </p:txBody>
      </p:sp>
      <p:sp>
        <p:nvSpPr>
          <p:cNvPr id="9" name="Rounded Rectangle 8"/>
          <p:cNvSpPr/>
          <p:nvPr/>
        </p:nvSpPr>
        <p:spPr>
          <a:xfrm>
            <a:off x="8229600" y="2788920"/>
            <a:ext cx="2834640" cy="594360"/>
          </a:xfrm>
          <a:prstGeom prst="roundRect">
            <a:avLst>
              <a:gd name="adj" fmla="val 2000"/>
            </a:avLst>
          </a:prstGeom>
          <a:solidFill>
            <a:srgbClr val="4C1D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2788920"/>
            <a:ext cx="2468880" cy="594360"/>
          </a:xfrm>
          <a:prstGeom prst="rect">
            <a:avLst/>
          </a:prstGeom>
          <a:noFill/>
        </p:spPr>
        <p:txBody>
          <a:bodyPr wrap="square" lIns="0" rIns="0" tIns="0" bIns="0" anchor="ctr">
            <a:spAutoFit/>
          </a:bodyPr>
          <a:lstStyle/>
          <a:p>
            <a:pPr algn="r"/>
            <a:r>
              <a:rPr sz="1800" b="1" i="0">
                <a:solidFill>
                  <a:srgbClr val="FFFFFF"/>
                </a:solidFill>
                <a:latin typeface="Calibri"/>
              </a:rPr>
              <a:t>$400</a:t>
            </a:r>
          </a:p>
        </p:txBody>
      </p:sp>
      <p:sp>
        <p:nvSpPr>
          <p:cNvPr id="11" name="TextBox 10"/>
          <p:cNvSpPr txBox="1"/>
          <p:nvPr/>
        </p:nvSpPr>
        <p:spPr>
          <a:xfrm>
            <a:off x="6949440" y="3794759"/>
            <a:ext cx="1280160" cy="594360"/>
          </a:xfrm>
          <a:prstGeom prst="rect">
            <a:avLst/>
          </a:prstGeom>
          <a:noFill/>
        </p:spPr>
        <p:txBody>
          <a:bodyPr wrap="square" lIns="0" rIns="0" tIns="0" bIns="0" anchor="ctr">
            <a:spAutoFit/>
          </a:bodyPr>
          <a:lstStyle/>
          <a:p>
            <a:pPr algn="l"/>
            <a:r>
              <a:rPr sz="1800" b="1" i="0">
                <a:solidFill>
                  <a:srgbClr val="4C1D95"/>
                </a:solidFill>
                <a:latin typeface="Calibri"/>
              </a:rPr>
              <a:t>CrimeScope</a:t>
            </a:r>
          </a:p>
        </p:txBody>
      </p:sp>
      <p:sp>
        <p:nvSpPr>
          <p:cNvPr id="12" name="Rounded Rectangle 11"/>
          <p:cNvSpPr/>
          <p:nvPr/>
        </p:nvSpPr>
        <p:spPr>
          <a:xfrm>
            <a:off x="8229600" y="3794759"/>
            <a:ext cx="91440" cy="594360"/>
          </a:xfrm>
          <a:prstGeom prst="roundRect">
            <a:avLst>
              <a:gd name="adj" fmla="val 2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19" y="3794759"/>
            <a:ext cx="1828800" cy="594360"/>
          </a:xfrm>
          <a:prstGeom prst="rect">
            <a:avLst/>
          </a:prstGeom>
          <a:noFill/>
        </p:spPr>
        <p:txBody>
          <a:bodyPr wrap="square" lIns="0" rIns="0" tIns="0" bIns="0" anchor="ctr">
            <a:spAutoFit/>
          </a:bodyPr>
          <a:lstStyle/>
          <a:p>
            <a:pPr algn="l"/>
            <a:r>
              <a:rPr sz="1800" b="1" i="0">
                <a:solidFill>
                  <a:srgbClr val="4C1D95"/>
                </a:solidFill>
                <a:latin typeface="Calibri"/>
              </a:rPr>
              <a:t>≈ $0.05</a:t>
            </a:r>
          </a:p>
        </p:txBody>
      </p:sp>
      <p:sp>
        <p:nvSpPr>
          <p:cNvPr id="14" name="TextBox 13"/>
          <p:cNvSpPr txBox="1"/>
          <p:nvPr/>
        </p:nvSpPr>
        <p:spPr>
          <a:xfrm>
            <a:off x="6949440" y="5394959"/>
            <a:ext cx="4297680" cy="365760"/>
          </a:xfrm>
          <a:prstGeom prst="rect">
            <a:avLst/>
          </a:prstGeom>
          <a:noFill/>
        </p:spPr>
        <p:txBody>
          <a:bodyPr wrap="square" lIns="0" rIns="0" tIns="0" bIns="0" anchor="t">
            <a:spAutoFit/>
          </a:bodyPr>
          <a:lstStyle/>
          <a:p>
            <a:pPr algn="l"/>
            <a:r>
              <a:rPr sz="1400" b="0" i="1">
                <a:solidFill>
                  <a:srgbClr val="808090"/>
                </a:solidFill>
                <a:latin typeface="Calibri"/>
              </a:rPr>
              <a:t>8,000× cheaper per brief.  And it's reproducible — same answer twice.</a:t>
            </a:r>
          </a:p>
        </p:txBody>
      </p:sp>
      <p:sp>
        <p:nvSpPr>
          <p:cNvPr id="15" name="TextBox 14"/>
          <p:cNvSpPr txBox="1"/>
          <p:nvPr/>
        </p:nvSpPr>
        <p:spPr>
          <a:xfrm>
            <a:off x="11094415" y="6492240"/>
            <a:ext cx="457200" cy="274320"/>
          </a:xfrm>
          <a:prstGeom prst="rect">
            <a:avLst/>
          </a:prstGeom>
          <a:noFill/>
        </p:spPr>
        <p:txBody>
          <a:bodyPr wrap="square" lIns="0" rIns="0" tIns="0" bIns="0" anchor="t">
            <a:spAutoFit/>
          </a:bodyPr>
          <a:lstStyle/>
          <a:p>
            <a:pPr algn="r"/>
            <a:r>
              <a:rPr sz="1000" b="0" i="1">
                <a:solidFill>
                  <a:srgbClr val="808090"/>
                </a:solidFill>
                <a:latin typeface="Calibri"/>
              </a:rPr>
              <a:t>-- 11 of 16 --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5029200" cy="502920"/>
          </a:xfrm>
          <a:prstGeom prst="rect">
            <a:avLst/>
          </a:prstGeom>
          <a:noFill/>
        </p:spPr>
        <p:txBody>
          <a:bodyPr wrap="square" lIns="0" rIns="0" tIns="0" bIns="0" anchor="t">
            <a:spAutoFit/>
          </a:bodyPr>
          <a:lstStyle/>
          <a:p>
            <a:pPr algn="l"/>
            <a:r>
              <a:rPr sz="3200" b="1" i="0">
                <a:solidFill>
                  <a:srgbClr val="0F1429"/>
                </a:solidFill>
                <a:latin typeface="Calibri"/>
              </a:rPr>
              <a:t>Problem</a:t>
            </a:r>
          </a:p>
        </p:txBody>
      </p:sp>
      <p:cxnSp>
        <p:nvCxnSpPr>
          <p:cNvPr id="3" name="Connector 2"/>
          <p:cNvCxnSpPr/>
          <p:nvPr/>
        </p:nvCxnSpPr>
        <p:spPr>
          <a:xfrm>
            <a:off x="640080" y="1216152"/>
            <a:ext cx="914400" cy="0"/>
          </a:xfrm>
          <a:prstGeom prst="line">
            <a:avLst/>
          </a:prstGeom>
          <a:ln w="31750">
            <a:solidFill>
              <a:srgbClr val="6D28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1508760"/>
            <a:ext cx="5029200" cy="4114800"/>
          </a:xfrm>
          <a:prstGeom prst="rect">
            <a:avLst/>
          </a:prstGeom>
          <a:noFill/>
        </p:spPr>
        <p:txBody>
          <a:bodyPr wrap="square" lIns="0" rIns="0" tIns="0" bIns="0" anchor="t">
            <a:spAutoFit/>
          </a:bodyPr>
          <a:lstStyle/>
          <a:p>
            <a:pPr algn="l">
              <a:lnSpc>
                <a:spcPct val="130000"/>
              </a:lnSpc>
            </a:pPr>
            <a:r>
              <a:rPr sz="1800" b="1" i="0">
                <a:solidFill>
                  <a:srgbClr val="6D28D9"/>
                </a:solidFill>
                <a:latin typeface="Calibri"/>
              </a:rPr>
              <a:t>•  </a:t>
            </a:r>
            <a:r>
              <a:rPr sz="1800" b="0" i="0">
                <a:solidFill>
                  <a:srgbClr val="333340"/>
                </a:solidFill>
                <a:latin typeface="Calibri"/>
              </a:rPr>
              <a:t>Crime data is abundant — 60+ months of open police records.</a:t>
            </a:r>
          </a:p>
          <a:p>
            <a:pPr algn="l">
              <a:lnSpc>
                <a:spcPct val="130000"/>
              </a:lnSpc>
            </a:pPr>
            <a:r>
              <a:rPr sz="1800" b="1" i="0">
                <a:solidFill>
                  <a:srgbClr val="6D28D9"/>
                </a:solidFill>
                <a:latin typeface="Calibri"/>
              </a:rPr>
              <a:t>•  </a:t>
            </a:r>
            <a:r>
              <a:rPr sz="1800" b="0" i="0">
                <a:solidFill>
                  <a:srgbClr val="333340"/>
                </a:solidFill>
                <a:latin typeface="Calibri"/>
              </a:rPr>
              <a:t>But 7,264 MSOAs go unanalyzed weekly.</a:t>
            </a:r>
          </a:p>
          <a:p>
            <a:pPr algn="l">
              <a:lnSpc>
                <a:spcPct val="130000"/>
              </a:lnSpc>
            </a:pPr>
            <a:r>
              <a:rPr sz="1800" b="1" i="0">
                <a:solidFill>
                  <a:srgbClr val="6D28D9"/>
                </a:solidFill>
                <a:latin typeface="Calibri"/>
              </a:rPr>
              <a:t>•  </a:t>
            </a:r>
            <a:r>
              <a:rPr sz="1800" b="0" i="0">
                <a:solidFill>
                  <a:srgbClr val="333340"/>
                </a:solidFill>
                <a:latin typeface="Calibri"/>
              </a:rPr>
              <a:t>A defensible risk brief takes hours of analyst time.</a:t>
            </a:r>
          </a:p>
          <a:p>
            <a:pPr algn="l">
              <a:lnSpc>
                <a:spcPct val="130000"/>
              </a:lnSpc>
            </a:pPr>
            <a:r>
              <a:rPr sz="1800" b="1" i="0">
                <a:solidFill>
                  <a:srgbClr val="6D28D9"/>
                </a:solidFill>
                <a:latin typeface="Calibri"/>
              </a:rPr>
              <a:t>•  </a:t>
            </a:r>
            <a:r>
              <a:rPr sz="1800" b="0" i="0">
                <a:solidFill>
                  <a:srgbClr val="333340"/>
                </a:solidFill>
                <a:latin typeface="Calibri"/>
              </a:rPr>
              <a:t>Decision-makers are non-experts — they need plain English.</a:t>
            </a:r>
          </a:p>
        </p:txBody>
      </p:sp>
      <p:sp>
        <p:nvSpPr>
          <p:cNvPr id="5" name="TextBox 4"/>
          <p:cNvSpPr txBox="1"/>
          <p:nvPr/>
        </p:nvSpPr>
        <p:spPr>
          <a:xfrm>
            <a:off x="6583680" y="502920"/>
            <a:ext cx="5029200" cy="502920"/>
          </a:xfrm>
          <a:prstGeom prst="rect">
            <a:avLst/>
          </a:prstGeom>
          <a:noFill/>
        </p:spPr>
        <p:txBody>
          <a:bodyPr wrap="square" lIns="0" rIns="0" tIns="0" bIns="0" anchor="t">
            <a:spAutoFit/>
          </a:bodyPr>
          <a:lstStyle/>
          <a:p>
            <a:pPr algn="l"/>
            <a:r>
              <a:rPr sz="4400" b="1" i="0">
                <a:solidFill>
                  <a:srgbClr val="4C1D95"/>
                </a:solidFill>
                <a:latin typeface="Calibri"/>
              </a:rPr>
              <a:t>THANK YOU!</a:t>
            </a:r>
          </a:p>
        </p:txBody>
      </p:sp>
      <p:cxnSp>
        <p:nvCxnSpPr>
          <p:cNvPr id="6" name="Connector 5"/>
          <p:cNvCxnSpPr/>
          <p:nvPr/>
        </p:nvCxnSpPr>
        <p:spPr>
          <a:xfrm>
            <a:off x="6583680" y="1508760"/>
            <a:ext cx="1280160" cy="0"/>
          </a:xfrm>
          <a:prstGeom prst="line">
            <a:avLst/>
          </a:prstGeom>
          <a:ln w="31750">
            <a:solidFill>
              <a:srgbClr val="6D28D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0" y="1508760"/>
            <a:ext cx="5029200" cy="1371600"/>
          </a:xfrm>
          <a:prstGeom prst="rect">
            <a:avLst/>
          </a:prstGeom>
          <a:noFill/>
        </p:spPr>
        <p:txBody>
          <a:bodyPr wrap="square" lIns="0" rIns="0" tIns="0" bIns="0" anchor="t">
            <a:spAutoFit/>
          </a:bodyPr>
          <a:lstStyle/>
          <a:p>
            <a:pPr algn="l"/>
            <a:r>
              <a:rPr sz="1800" b="0" i="0">
                <a:solidFill>
                  <a:srgbClr val="333340"/>
                </a:solidFill>
                <a:latin typeface="Calibri"/>
              </a:rPr>
              <a:t>Special thanks to our MSOE MAIC mentors, our Xorbix mentors, and to Xorbix and MSOE Innovation Labs for their support.</a:t>
            </a:r>
          </a:p>
        </p:txBody>
      </p:sp>
      <p:sp>
        <p:nvSpPr>
          <p:cNvPr id="8" name="TextBox 7"/>
          <p:cNvSpPr txBox="1"/>
          <p:nvPr/>
        </p:nvSpPr>
        <p:spPr>
          <a:xfrm>
            <a:off x="6583680" y="3108960"/>
            <a:ext cx="5029200" cy="365760"/>
          </a:xfrm>
          <a:prstGeom prst="rect">
            <a:avLst/>
          </a:prstGeom>
          <a:noFill/>
        </p:spPr>
        <p:txBody>
          <a:bodyPr wrap="square" lIns="0" rIns="0" tIns="0" bIns="0" anchor="t">
            <a:spAutoFit/>
          </a:bodyPr>
          <a:lstStyle/>
          <a:p>
            <a:pPr algn="l"/>
            <a:r>
              <a:rPr sz="1100" b="1" i="0">
                <a:solidFill>
                  <a:srgbClr val="4C1D95"/>
                </a:solidFill>
                <a:latin typeface="Calibri"/>
              </a:rPr>
              <a:t>TEAM</a:t>
            </a:r>
          </a:p>
        </p:txBody>
      </p:sp>
      <p:sp>
        <p:nvSpPr>
          <p:cNvPr id="9" name="TextBox 8"/>
          <p:cNvSpPr txBox="1"/>
          <p:nvPr/>
        </p:nvSpPr>
        <p:spPr>
          <a:xfrm>
            <a:off x="6583680" y="3429000"/>
            <a:ext cx="5029200" cy="1005840"/>
          </a:xfrm>
          <a:prstGeom prst="rect">
            <a:avLst/>
          </a:prstGeom>
          <a:noFill/>
        </p:spPr>
        <p:txBody>
          <a:bodyPr wrap="square" lIns="0" rIns="0" tIns="0" bIns="0" anchor="t">
            <a:spAutoFit/>
          </a:bodyPr>
          <a:lstStyle/>
          <a:p>
            <a:pPr algn="l"/>
            <a:r>
              <a:rPr sz="1400" b="1" i="0">
                <a:solidFill>
                  <a:srgbClr val="0F1429"/>
                </a:solidFill>
                <a:latin typeface="Calibri"/>
              </a:rPr>
              <a:t>Aditya Miriyala  ·  Shritej Gunda  ·  Yukta Koganti
Koushik Cherukuri  ·  Khushal Lingamaneni  ·  Thanvi Gorrepati</a:t>
            </a:r>
          </a:p>
        </p:txBody>
      </p:sp>
      <p:sp>
        <p:nvSpPr>
          <p:cNvPr id="10" name="TextBox 9"/>
          <p:cNvSpPr txBox="1"/>
          <p:nvPr/>
        </p:nvSpPr>
        <p:spPr>
          <a:xfrm>
            <a:off x="11094415" y="6492240"/>
            <a:ext cx="457200" cy="274320"/>
          </a:xfrm>
          <a:prstGeom prst="rect">
            <a:avLst/>
          </a:prstGeom>
          <a:noFill/>
        </p:spPr>
        <p:txBody>
          <a:bodyPr wrap="square" lIns="0" rIns="0" tIns="0" bIns="0" anchor="t">
            <a:spAutoFit/>
          </a:bodyPr>
          <a:lstStyle/>
          <a:p>
            <a:pPr algn="r"/>
            <a:r>
              <a:rPr sz="1000" b="0" i="1">
                <a:solidFill>
                  <a:srgbClr val="808090"/>
                </a:solidFill>
                <a:latin typeface="Calibri"/>
              </a:rPr>
              <a:t>-- 12 of 16 --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640080"/>
          </a:xfrm>
          <a:prstGeom prst="rect">
            <a:avLst/>
          </a:prstGeom>
          <a:noFill/>
        </p:spPr>
        <p:txBody>
          <a:bodyPr wrap="square" lIns="0" rIns="0" tIns="0" bIns="0" anchor="t">
            <a:spAutoFit/>
          </a:bodyPr>
          <a:lstStyle/>
          <a:p>
            <a:pPr algn="l"/>
            <a:r>
              <a:rPr sz="3200" b="1" i="0">
                <a:solidFill>
                  <a:srgbClr val="0F1429"/>
                </a:solidFill>
                <a:latin typeface="Calibri"/>
              </a:rPr>
              <a:t>References</a:t>
            </a:r>
          </a:p>
        </p:txBody>
      </p:sp>
      <p:cxnSp>
        <p:nvCxnSpPr>
          <p:cNvPr id="3" name="Connector 2"/>
          <p:cNvCxnSpPr/>
          <p:nvPr/>
        </p:nvCxnSpPr>
        <p:spPr>
          <a:xfrm>
            <a:off x="640080" y="1216152"/>
            <a:ext cx="1280159" cy="0"/>
          </a:xfrm>
          <a:prstGeom prst="line">
            <a:avLst/>
          </a:prstGeom>
          <a:ln w="31750">
            <a:solidFill>
              <a:srgbClr val="6D28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2959" y="1691640"/>
            <a:ext cx="10545775" cy="4572000"/>
          </a:xfrm>
          <a:prstGeom prst="rect">
            <a:avLst/>
          </a:prstGeom>
          <a:noFill/>
        </p:spPr>
        <p:txBody>
          <a:bodyPr wrap="square" lIns="0" rIns="0" tIns="0" bIns="0" anchor="t">
            <a:spAutoFit/>
          </a:bodyPr>
          <a:lstStyle/>
          <a:p>
            <a:pPr algn="l">
              <a:lnSpc>
                <a:spcPct val="150000"/>
              </a:lnSpc>
            </a:pPr>
            <a:r>
              <a:rPr sz="1100" b="1" i="0">
                <a:solidFill>
                  <a:srgbClr val="6D28D9"/>
                </a:solidFill>
                <a:latin typeface="Calibri"/>
              </a:rPr>
              <a:t>•  </a:t>
            </a:r>
            <a:r>
              <a:rPr sz="1100" b="0" i="0">
                <a:solidFill>
                  <a:srgbClr val="333340"/>
                </a:solidFill>
                <a:latin typeface="Calibri"/>
              </a:rPr>
              <a:t>data.police.uk (2026). UK street-level crime + outcomes archive — 60 months of monthly snapshots. https://data.police.uk</a:t>
            </a:r>
          </a:p>
          <a:p>
            <a:pPr algn="l">
              <a:lnSpc>
                <a:spcPct val="150000"/>
              </a:lnSpc>
            </a:pPr>
            <a:r>
              <a:rPr sz="1100" b="1" i="0">
                <a:solidFill>
                  <a:srgbClr val="6D28D9"/>
                </a:solidFill>
                <a:latin typeface="Calibri"/>
              </a:rPr>
              <a:t>•  </a:t>
            </a:r>
            <a:r>
              <a:rPr sz="1100" b="0" i="0">
                <a:solidFill>
                  <a:srgbClr val="333340"/>
                </a:solidFill>
                <a:latin typeface="Calibri"/>
              </a:rPr>
              <a:t>Office for National Statistics (2021). Census 2021: population, households, deprivation by MSOA. https://ons.gov.uk</a:t>
            </a:r>
          </a:p>
          <a:p>
            <a:pPr algn="l">
              <a:lnSpc>
                <a:spcPct val="150000"/>
              </a:lnSpc>
            </a:pPr>
            <a:r>
              <a:rPr sz="1100" b="1" i="0">
                <a:solidFill>
                  <a:srgbClr val="6D28D9"/>
                </a:solidFill>
                <a:latin typeface="Calibri"/>
              </a:rPr>
              <a:t>•  </a:t>
            </a:r>
            <a:r>
              <a:rPr sz="1100" b="0" i="0">
                <a:solidFill>
                  <a:srgbClr val="333340"/>
                </a:solidFill>
                <a:latin typeface="Calibri"/>
              </a:rPr>
              <a:t>Ministry of Housing, Communities &amp; Local Government (2019). Index of Multiple Deprivation 2019.</a:t>
            </a:r>
          </a:p>
          <a:p>
            <a:pPr algn="l">
              <a:lnSpc>
                <a:spcPct val="150000"/>
              </a:lnSpc>
            </a:pPr>
            <a:r>
              <a:rPr sz="1100" b="1" i="0">
                <a:solidFill>
                  <a:srgbClr val="6D28D9"/>
                </a:solidFill>
                <a:latin typeface="Calibri"/>
              </a:rPr>
              <a:t>•  </a:t>
            </a:r>
            <a:r>
              <a:rPr sz="1100" b="0" i="0">
                <a:solidFill>
                  <a:srgbClr val="333340"/>
                </a:solidFill>
                <a:latin typeface="Calibri"/>
              </a:rPr>
              <a:t>Welsh Government (2019). Welsh Index of Multiple Deprivation 2019. https://gov.wales</a:t>
            </a:r>
          </a:p>
          <a:p>
            <a:pPr algn="l">
              <a:lnSpc>
                <a:spcPct val="150000"/>
              </a:lnSpc>
            </a:pPr>
            <a:r>
              <a:rPr sz="1100" b="1" i="0">
                <a:solidFill>
                  <a:srgbClr val="6D28D9"/>
                </a:solidFill>
                <a:latin typeface="Calibri"/>
              </a:rPr>
              <a:t>•  </a:t>
            </a:r>
            <a:r>
              <a:rPr sz="1100" b="0" i="0">
                <a:solidFill>
                  <a:srgbClr val="333340"/>
                </a:solidFill>
                <a:latin typeface="Calibri"/>
              </a:rPr>
              <a:t>Office for National Statistics (2021). MSOA 2021 Boundaries — Open Geography Portal. https://geoportal.statistics.gov.uk</a:t>
            </a:r>
          </a:p>
          <a:p>
            <a:pPr algn="l">
              <a:lnSpc>
                <a:spcPct val="150000"/>
              </a:lnSpc>
            </a:pPr>
            <a:r>
              <a:rPr sz="1100" b="1" i="0">
                <a:solidFill>
                  <a:srgbClr val="6D28D9"/>
                </a:solidFill>
                <a:latin typeface="Calibri"/>
              </a:rPr>
              <a:t>•  </a:t>
            </a:r>
            <a:r>
              <a:rPr sz="1100" b="0" i="0">
                <a:solidFill>
                  <a:srgbClr val="333340"/>
                </a:solidFill>
                <a:latin typeface="Calibri"/>
              </a:rPr>
              <a:t>Ke, G. et al. (2017). LightGBM: A Highly Efficient Gradient Boosting Decision Tree. NeurIPS 2017.</a:t>
            </a:r>
          </a:p>
          <a:p>
            <a:pPr algn="l">
              <a:lnSpc>
                <a:spcPct val="150000"/>
              </a:lnSpc>
            </a:pPr>
            <a:r>
              <a:rPr sz="1100" b="1" i="0">
                <a:solidFill>
                  <a:srgbClr val="6D28D9"/>
                </a:solidFill>
                <a:latin typeface="Calibri"/>
              </a:rPr>
              <a:t>•  </a:t>
            </a:r>
            <a:r>
              <a:rPr sz="1100" b="0" i="0">
                <a:solidFill>
                  <a:srgbClr val="333340"/>
                </a:solidFill>
                <a:latin typeface="Calibri"/>
              </a:rPr>
              <a:t>Lundberg, S. M. &amp; Lee, S.-I. (2017). A Unified Approach to Interpreting Model Predictions (SHAP). NeurIPS 2017.</a:t>
            </a:r>
          </a:p>
        </p:txBody>
      </p:sp>
      <p:sp>
        <p:nvSpPr>
          <p:cNvPr id="5" name="TextBox 4"/>
          <p:cNvSpPr txBox="1"/>
          <p:nvPr/>
        </p:nvSpPr>
        <p:spPr>
          <a:xfrm>
            <a:off x="11094415" y="6492240"/>
            <a:ext cx="457200" cy="274320"/>
          </a:xfrm>
          <a:prstGeom prst="rect">
            <a:avLst/>
          </a:prstGeom>
          <a:noFill/>
        </p:spPr>
        <p:txBody>
          <a:bodyPr wrap="square" lIns="0" rIns="0" tIns="0" bIns="0" anchor="t">
            <a:spAutoFit/>
          </a:bodyPr>
          <a:lstStyle/>
          <a:p>
            <a:pPr algn="r"/>
            <a:r>
              <a:rPr sz="1000" b="0" i="1">
                <a:solidFill>
                  <a:srgbClr val="808090"/>
                </a:solidFill>
                <a:latin typeface="Calibri"/>
              </a:rPr>
              <a:t>-- 13 of 16 --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640080"/>
          </a:xfrm>
          <a:prstGeom prst="rect">
            <a:avLst/>
          </a:prstGeom>
          <a:noFill/>
        </p:spPr>
        <p:txBody>
          <a:bodyPr wrap="square" lIns="0" rIns="0" tIns="0" bIns="0" anchor="t">
            <a:spAutoFit/>
          </a:bodyPr>
          <a:lstStyle/>
          <a:p>
            <a:pPr algn="l"/>
            <a:r>
              <a:rPr sz="3200" b="1" i="0">
                <a:solidFill>
                  <a:srgbClr val="0F1429"/>
                </a:solidFill>
                <a:latin typeface="Calibri"/>
              </a:rPr>
              <a:t>Pricing Math (Appendix)</a:t>
            </a:r>
          </a:p>
        </p:txBody>
      </p:sp>
      <p:cxnSp>
        <p:nvCxnSpPr>
          <p:cNvPr id="3" name="Connector 2"/>
          <p:cNvCxnSpPr/>
          <p:nvPr/>
        </p:nvCxnSpPr>
        <p:spPr>
          <a:xfrm>
            <a:off x="640080" y="1216152"/>
            <a:ext cx="1280159" cy="0"/>
          </a:xfrm>
          <a:prstGeom prst="line">
            <a:avLst/>
          </a:prstGeom>
          <a:ln w="31750">
            <a:solidFill>
              <a:srgbClr val="6D28D9"/>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640080" y="1600200"/>
            <a:ext cx="10911535" cy="868680"/>
          </a:xfrm>
          <a:prstGeom prst="roundRect">
            <a:avLst>
              <a:gd name="adj" fmla="val 4000"/>
            </a:avLst>
          </a:prstGeom>
          <a:solidFill>
            <a:srgbClr val="EE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10362895" cy="274320"/>
          </a:xfrm>
          <a:prstGeom prst="rect">
            <a:avLst/>
          </a:prstGeom>
          <a:noFill/>
        </p:spPr>
        <p:txBody>
          <a:bodyPr wrap="square" lIns="0" rIns="0" tIns="0" bIns="0" anchor="t">
            <a:spAutoFit/>
          </a:bodyPr>
          <a:lstStyle/>
          <a:p>
            <a:pPr algn="l"/>
            <a:r>
              <a:rPr sz="1100" b="1" i="0">
                <a:solidFill>
                  <a:srgbClr val="4C1D95"/>
                </a:solidFill>
                <a:latin typeface="Calibri"/>
              </a:rPr>
              <a:t>FORMULA</a:t>
            </a:r>
          </a:p>
        </p:txBody>
      </p:sp>
      <p:sp>
        <p:nvSpPr>
          <p:cNvPr id="6" name="TextBox 5"/>
          <p:cNvSpPr txBox="1"/>
          <p:nvPr/>
        </p:nvSpPr>
        <p:spPr>
          <a:xfrm>
            <a:off x="914400" y="1920240"/>
            <a:ext cx="10362895" cy="502920"/>
          </a:xfrm>
          <a:prstGeom prst="rect">
            <a:avLst/>
          </a:prstGeom>
          <a:noFill/>
        </p:spPr>
        <p:txBody>
          <a:bodyPr wrap="square" lIns="0" rIns="0" tIns="0" bIns="0" anchor="t">
            <a:spAutoFit/>
          </a:bodyPr>
          <a:lstStyle/>
          <a:p>
            <a:pPr algn="l"/>
            <a:r>
              <a:rPr sz="2200" b="1" i="0">
                <a:solidFill>
                  <a:srgbClr val="0F1429"/>
                </a:solidFill>
                <a:latin typeface="Calibri"/>
              </a:rPr>
              <a:t>suggested = base × (1 + α · score_deviation + β · tier_loading)</a:t>
            </a:r>
          </a:p>
        </p:txBody>
      </p:sp>
      <p:sp>
        <p:nvSpPr>
          <p:cNvPr id="7" name="TextBox 6"/>
          <p:cNvSpPr txBox="1"/>
          <p:nvPr/>
        </p:nvSpPr>
        <p:spPr>
          <a:xfrm>
            <a:off x="914400" y="2788920"/>
            <a:ext cx="10362895" cy="3657600"/>
          </a:xfrm>
          <a:prstGeom prst="rect">
            <a:avLst/>
          </a:prstGeom>
          <a:noFill/>
        </p:spPr>
        <p:txBody>
          <a:bodyPr wrap="square" lIns="0" rIns="0" tIns="0" bIns="0" anchor="t">
            <a:spAutoFit/>
          </a:bodyPr>
          <a:lstStyle/>
          <a:p>
            <a:pPr algn="l">
              <a:lnSpc>
                <a:spcPct val="130000"/>
              </a:lnSpc>
            </a:pPr>
            <a:r>
              <a:rPr sz="1800" b="1" i="0">
                <a:solidFill>
                  <a:srgbClr val="6D28D9"/>
                </a:solidFill>
                <a:latin typeface="Calibri"/>
              </a:rPr>
              <a:t>•  </a:t>
            </a:r>
            <a:r>
              <a:rPr sz="1800" b="0" i="0">
                <a:solidFill>
                  <a:srgbClr val="333340"/>
                </a:solidFill>
                <a:latin typeface="Calibri"/>
              </a:rPr>
              <a:t>Persona = Insurer  ·  Base = £1,000  ·  Score = 56 (Elevated)</a:t>
            </a:r>
          </a:p>
          <a:p>
            <a:pPr algn="l">
              <a:lnSpc>
                <a:spcPct val="130000"/>
              </a:lnSpc>
            </a:pPr>
            <a:r>
              <a:rPr sz="1800" b="1" i="0">
                <a:solidFill>
                  <a:srgbClr val="6D28D9"/>
                </a:solidFill>
                <a:latin typeface="Calibri"/>
              </a:rPr>
              <a:t>•  </a:t>
            </a:r>
            <a:r>
              <a:rPr sz="1800" b="0" i="0">
                <a:solidFill>
                  <a:srgbClr val="333340"/>
                </a:solidFill>
                <a:latin typeface="Calibri"/>
              </a:rPr>
              <a:t>α · deviation:  0.45 × 11.8% = +5.31%</a:t>
            </a:r>
          </a:p>
          <a:p>
            <a:pPr algn="l">
              <a:lnSpc>
                <a:spcPct val="130000"/>
              </a:lnSpc>
            </a:pPr>
            <a:r>
              <a:rPr sz="1800" b="1" i="0">
                <a:solidFill>
                  <a:srgbClr val="6D28D9"/>
                </a:solidFill>
                <a:latin typeface="Calibri"/>
              </a:rPr>
              <a:t>•  </a:t>
            </a:r>
            <a:r>
              <a:rPr sz="1800" b="0" i="0">
                <a:solidFill>
                  <a:srgbClr val="333340"/>
                </a:solidFill>
                <a:latin typeface="Calibri"/>
              </a:rPr>
              <a:t>β · tier load:  0.55 × 30% = +16.5%</a:t>
            </a:r>
          </a:p>
          <a:p>
            <a:pPr algn="l">
              <a:lnSpc>
                <a:spcPct val="130000"/>
              </a:lnSpc>
            </a:pPr>
            <a:r>
              <a:rPr sz="1800" b="1" i="0">
                <a:solidFill>
                  <a:srgbClr val="6D28D9"/>
                </a:solidFill>
                <a:latin typeface="Calibri"/>
              </a:rPr>
              <a:t>•  </a:t>
            </a:r>
            <a:r>
              <a:rPr sz="1800" b="0" i="0">
                <a:solidFill>
                  <a:srgbClr val="333340"/>
                </a:solidFill>
                <a:latin typeface="Calibri"/>
              </a:rPr>
              <a:t>Multiplier:  1.218 ×  →  Suggested premium £1,218</a:t>
            </a:r>
          </a:p>
          <a:p>
            <a:pPr algn="l">
              <a:lnSpc>
                <a:spcPct val="130000"/>
              </a:lnSpc>
            </a:pPr>
            <a:r>
              <a:rPr sz="1800" b="1" i="0">
                <a:solidFill>
                  <a:srgbClr val="6D28D9"/>
                </a:solidFill>
                <a:latin typeface="Calibri"/>
              </a:rPr>
              <a:t>•  </a:t>
            </a:r>
            <a:r>
              <a:rPr sz="1800" b="0" i="0">
                <a:solidFill>
                  <a:srgbClr val="333340"/>
                </a:solidFill>
                <a:latin typeface="Calibri"/>
              </a:rPr>
              <a:t>Driver shown to user:  ML rolling-mean trend (+21.2%, directional)</a:t>
            </a:r>
          </a:p>
          <a:p>
            <a:pPr algn="l">
              <a:lnSpc>
                <a:spcPct val="130000"/>
              </a:lnSpc>
            </a:pPr>
            <a:r>
              <a:rPr sz="1800" b="1" i="0">
                <a:solidFill>
                  <a:srgbClr val="6D28D9"/>
                </a:solidFill>
                <a:latin typeface="Calibri"/>
              </a:rPr>
              <a:t>•  </a:t>
            </a:r>
            <a:r>
              <a:rPr sz="1800" b="0" i="0">
                <a:solidFill>
                  <a:srgbClr val="333340"/>
                </a:solidFill>
                <a:latin typeface="Calibri"/>
              </a:rPr>
              <a:t>Band:  surcharge  (between standard and high-risk)</a:t>
            </a:r>
          </a:p>
        </p:txBody>
      </p:sp>
      <p:sp>
        <p:nvSpPr>
          <p:cNvPr id="8" name="TextBox 7"/>
          <p:cNvSpPr txBox="1"/>
          <p:nvPr/>
        </p:nvSpPr>
        <p:spPr>
          <a:xfrm>
            <a:off x="11094415" y="6492240"/>
            <a:ext cx="457200" cy="274320"/>
          </a:xfrm>
          <a:prstGeom prst="rect">
            <a:avLst/>
          </a:prstGeom>
          <a:noFill/>
        </p:spPr>
        <p:txBody>
          <a:bodyPr wrap="square" lIns="0" rIns="0" tIns="0" bIns="0" anchor="t">
            <a:spAutoFit/>
          </a:bodyPr>
          <a:lstStyle/>
          <a:p>
            <a:pPr algn="r"/>
            <a:r>
              <a:rPr sz="1000" b="0" i="1">
                <a:solidFill>
                  <a:srgbClr val="808090"/>
                </a:solidFill>
                <a:latin typeface="Calibri"/>
              </a:rPr>
              <a:t>-- 14 of 16 --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640080"/>
          </a:xfrm>
          <a:prstGeom prst="rect">
            <a:avLst/>
          </a:prstGeom>
          <a:noFill/>
        </p:spPr>
        <p:txBody>
          <a:bodyPr wrap="square" lIns="0" rIns="0" tIns="0" bIns="0" anchor="t">
            <a:spAutoFit/>
          </a:bodyPr>
          <a:lstStyle/>
          <a:p>
            <a:pPr algn="l"/>
            <a:r>
              <a:rPr sz="3200" b="1" i="0">
                <a:solidFill>
                  <a:srgbClr val="0F1429"/>
                </a:solidFill>
                <a:latin typeface="Calibri"/>
              </a:rPr>
              <a:t>Trust Posture (Appendix)</a:t>
            </a:r>
          </a:p>
        </p:txBody>
      </p:sp>
      <p:cxnSp>
        <p:nvCxnSpPr>
          <p:cNvPr id="3" name="Connector 2"/>
          <p:cNvCxnSpPr/>
          <p:nvPr/>
        </p:nvCxnSpPr>
        <p:spPr>
          <a:xfrm>
            <a:off x="640080" y="1216152"/>
            <a:ext cx="1280159" cy="0"/>
          </a:xfrm>
          <a:prstGeom prst="line">
            <a:avLst/>
          </a:prstGeom>
          <a:ln w="31750">
            <a:solidFill>
              <a:srgbClr val="6D28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2959" y="1783080"/>
            <a:ext cx="10545775" cy="4572000"/>
          </a:xfrm>
          <a:prstGeom prst="rect">
            <a:avLst/>
          </a:prstGeom>
          <a:noFill/>
        </p:spPr>
        <p:txBody>
          <a:bodyPr wrap="square" lIns="0" rIns="0" tIns="0" bIns="0" anchor="t">
            <a:spAutoFit/>
          </a:bodyPr>
          <a:lstStyle/>
          <a:p>
            <a:pPr algn="l">
              <a:lnSpc>
                <a:spcPct val="140000"/>
              </a:lnSpc>
            </a:pPr>
            <a:r>
              <a:rPr sz="1400" b="1" i="0">
                <a:solidFill>
                  <a:srgbClr val="6D28D9"/>
                </a:solidFill>
                <a:latin typeface="Calibri"/>
              </a:rPr>
              <a:t>•  </a:t>
            </a:r>
            <a:r>
              <a:rPr sz="1400" b="0" i="0">
                <a:solidFill>
                  <a:srgbClr val="333340"/>
                </a:solidFill>
                <a:latin typeface="Calibri"/>
              </a:rPr>
              <a:t>Plain-language summary on every region — score, top driver, trend, persona implication, in one paragraph.</a:t>
            </a:r>
          </a:p>
          <a:p>
            <a:pPr algn="l">
              <a:lnSpc>
                <a:spcPct val="140000"/>
              </a:lnSpc>
            </a:pPr>
            <a:r>
              <a:rPr sz="1400" b="1" i="0">
                <a:solidFill>
                  <a:srgbClr val="6D28D9"/>
                </a:solidFill>
                <a:latin typeface="Calibri"/>
              </a:rPr>
              <a:t>•  </a:t>
            </a:r>
            <a:r>
              <a:rPr sz="1400" b="0" i="0">
                <a:solidFill>
                  <a:srgbClr val="333340"/>
                </a:solidFill>
                <a:latin typeface="Calibri"/>
              </a:rPr>
              <a:t>Per-region SHAP driver attribution — direction, magnitude, evidence string. Shown for every prediction.</a:t>
            </a:r>
          </a:p>
          <a:p>
            <a:pPr algn="l">
              <a:lnSpc>
                <a:spcPct val="140000"/>
              </a:lnSpc>
            </a:pPr>
            <a:r>
              <a:rPr sz="1400" b="1" i="0">
                <a:solidFill>
                  <a:srgbClr val="6D28D9"/>
                </a:solidFill>
                <a:latin typeface="Calibri"/>
              </a:rPr>
              <a:t>•  </a:t>
            </a:r>
            <a:r>
              <a:rPr sz="1400" b="0" i="0">
                <a:solidFill>
                  <a:srgbClr val="333340"/>
                </a:solidFill>
                <a:latin typeface="Calibri"/>
              </a:rPr>
              <a:t>Disagreement banner — backend-driven; surfaces the delta when live signals diverge from the verified baseline.</a:t>
            </a:r>
          </a:p>
          <a:p>
            <a:pPr algn="l">
              <a:lnSpc>
                <a:spcPct val="140000"/>
              </a:lnSpc>
            </a:pPr>
            <a:r>
              <a:rPr sz="1400" b="1" i="0">
                <a:solidFill>
                  <a:srgbClr val="6D28D9"/>
                </a:solidFill>
                <a:latin typeface="Calibri"/>
              </a:rPr>
              <a:t>•  </a:t>
            </a:r>
            <a:r>
              <a:rPr sz="1400" b="0" i="0">
                <a:solidFill>
                  <a:srgbClr val="333340"/>
                </a:solidFill>
                <a:latin typeface="Calibri"/>
              </a:rPr>
              <a:t>Trust passport — confidence, completeness, freshness, source agreement, underreporting risk. Five colour-coded bars.</a:t>
            </a:r>
          </a:p>
          <a:p>
            <a:pPr algn="l">
              <a:lnSpc>
                <a:spcPct val="140000"/>
              </a:lnSpc>
            </a:pPr>
            <a:r>
              <a:rPr sz="1400" b="1" i="0">
                <a:solidFill>
                  <a:srgbClr val="6D28D9"/>
                </a:solidFill>
                <a:latin typeface="Calibri"/>
              </a:rPr>
              <a:t>•  </a:t>
            </a:r>
            <a:r>
              <a:rPr sz="1400" b="0" i="0">
                <a:solidFill>
                  <a:srgbClr val="333340"/>
                </a:solidFill>
                <a:latin typeface="Calibri"/>
              </a:rPr>
              <a:t>Source provenance — every number can name its source. pipeline_stats.json ships with dataset window and model version.</a:t>
            </a:r>
          </a:p>
          <a:p>
            <a:pPr algn="l">
              <a:lnSpc>
                <a:spcPct val="140000"/>
              </a:lnSpc>
            </a:pPr>
            <a:r>
              <a:rPr sz="1400" b="1" i="0">
                <a:solidFill>
                  <a:srgbClr val="6D28D9"/>
                </a:solidFill>
                <a:latin typeface="Calibri"/>
              </a:rPr>
              <a:t>•  </a:t>
            </a:r>
            <a:r>
              <a:rPr sz="1400" b="0" i="0">
                <a:solidFill>
                  <a:srgbClr val="333340"/>
                </a:solidFill>
                <a:latin typeface="Calibri"/>
              </a:rPr>
              <a:t>Honest forecasts — 80% confidence band on every projection; wider when data is sparse.</a:t>
            </a:r>
          </a:p>
        </p:txBody>
      </p:sp>
      <p:sp>
        <p:nvSpPr>
          <p:cNvPr id="5" name="TextBox 4"/>
          <p:cNvSpPr txBox="1"/>
          <p:nvPr/>
        </p:nvSpPr>
        <p:spPr>
          <a:xfrm>
            <a:off x="11094415" y="6492240"/>
            <a:ext cx="457200" cy="274320"/>
          </a:xfrm>
          <a:prstGeom prst="rect">
            <a:avLst/>
          </a:prstGeom>
          <a:noFill/>
        </p:spPr>
        <p:txBody>
          <a:bodyPr wrap="square" lIns="0" rIns="0" tIns="0" bIns="0" anchor="t">
            <a:spAutoFit/>
          </a:bodyPr>
          <a:lstStyle/>
          <a:p>
            <a:pPr algn="r"/>
            <a:r>
              <a:rPr sz="1000" b="0" i="1">
                <a:solidFill>
                  <a:srgbClr val="808090"/>
                </a:solidFill>
                <a:latin typeface="Calibri"/>
              </a:rPr>
              <a:t>-- 15 of 16 --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911535" cy="640080"/>
          </a:xfrm>
          <a:prstGeom prst="rect">
            <a:avLst/>
          </a:prstGeom>
          <a:noFill/>
        </p:spPr>
        <p:txBody>
          <a:bodyPr wrap="square" lIns="0" rIns="0" tIns="0" bIns="0" anchor="t">
            <a:spAutoFit/>
          </a:bodyPr>
          <a:lstStyle/>
          <a:p>
            <a:pPr algn="l"/>
            <a:r>
              <a:rPr sz="3200" b="1" i="0">
                <a:solidFill>
                  <a:srgbClr val="0F1429"/>
                </a:solidFill>
                <a:latin typeface="Calibri"/>
              </a:rPr>
              <a:t>Stack &amp; Tooling (Appendix)</a:t>
            </a:r>
          </a:p>
        </p:txBody>
      </p:sp>
      <p:cxnSp>
        <p:nvCxnSpPr>
          <p:cNvPr id="3" name="Connector 2"/>
          <p:cNvCxnSpPr/>
          <p:nvPr/>
        </p:nvCxnSpPr>
        <p:spPr>
          <a:xfrm>
            <a:off x="640080" y="1216152"/>
            <a:ext cx="1280159" cy="0"/>
          </a:xfrm>
          <a:prstGeom prst="line">
            <a:avLst/>
          </a:prstGeom>
          <a:ln w="31750">
            <a:solidFill>
              <a:srgbClr val="6D28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40080" y="1783080"/>
            <a:ext cx="5181447" cy="365760"/>
          </a:xfrm>
          <a:prstGeom prst="rect">
            <a:avLst/>
          </a:prstGeom>
          <a:noFill/>
        </p:spPr>
        <p:txBody>
          <a:bodyPr wrap="square" lIns="0" rIns="0" tIns="0" bIns="0" anchor="t">
            <a:spAutoFit/>
          </a:bodyPr>
          <a:lstStyle/>
          <a:p>
            <a:pPr algn="l"/>
            <a:r>
              <a:rPr sz="2200" b="1" i="0">
                <a:solidFill>
                  <a:srgbClr val="4C1D95"/>
                </a:solidFill>
                <a:latin typeface="Calibri"/>
              </a:rPr>
              <a:t>Backend / ML</a:t>
            </a:r>
          </a:p>
        </p:txBody>
      </p:sp>
      <p:sp>
        <p:nvSpPr>
          <p:cNvPr id="5" name="TextBox 4"/>
          <p:cNvSpPr txBox="1"/>
          <p:nvPr/>
        </p:nvSpPr>
        <p:spPr>
          <a:xfrm>
            <a:off x="822959" y="2286000"/>
            <a:ext cx="5181447" cy="3657600"/>
          </a:xfrm>
          <a:prstGeom prst="rect">
            <a:avLst/>
          </a:prstGeom>
          <a:noFill/>
        </p:spPr>
        <p:txBody>
          <a:bodyPr wrap="square" lIns="0" rIns="0" tIns="0" bIns="0" anchor="t">
            <a:spAutoFit/>
          </a:bodyPr>
          <a:lstStyle/>
          <a:p>
            <a:pPr algn="l">
              <a:lnSpc>
                <a:spcPct val="130000"/>
              </a:lnSpc>
            </a:pPr>
            <a:r>
              <a:rPr sz="1800" b="1" i="0">
                <a:solidFill>
                  <a:srgbClr val="6D28D9"/>
                </a:solidFill>
                <a:latin typeface="Calibri"/>
              </a:rPr>
              <a:t>•  </a:t>
            </a:r>
            <a:r>
              <a:rPr sz="1800" b="0" i="0">
                <a:solidFill>
                  <a:srgbClr val="333340"/>
                </a:solidFill>
                <a:latin typeface="Calibri"/>
              </a:rPr>
              <a:t>Databricks for training pipeline</a:t>
            </a:r>
          </a:p>
          <a:p>
            <a:pPr algn="l">
              <a:lnSpc>
                <a:spcPct val="130000"/>
              </a:lnSpc>
            </a:pPr>
            <a:r>
              <a:rPr sz="1800" b="1" i="0">
                <a:solidFill>
                  <a:srgbClr val="6D28D9"/>
                </a:solidFill>
                <a:latin typeface="Calibri"/>
              </a:rPr>
              <a:t>•  </a:t>
            </a:r>
            <a:r>
              <a:rPr sz="1800" b="0" i="0">
                <a:solidFill>
                  <a:srgbClr val="333340"/>
                </a:solidFill>
                <a:latin typeface="Calibri"/>
              </a:rPr>
              <a:t>LightGBM regression + SHAP</a:t>
            </a:r>
          </a:p>
          <a:p>
            <a:pPr algn="l">
              <a:lnSpc>
                <a:spcPct val="130000"/>
              </a:lnSpc>
            </a:pPr>
            <a:r>
              <a:rPr sz="1800" b="1" i="0">
                <a:solidFill>
                  <a:srgbClr val="6D28D9"/>
                </a:solidFill>
                <a:latin typeface="Calibri"/>
              </a:rPr>
              <a:t>•  </a:t>
            </a:r>
            <a:r>
              <a:rPr sz="1800" b="0" i="0">
                <a:solidFill>
                  <a:srgbClr val="333340"/>
                </a:solidFill>
                <a:latin typeface="Calibri"/>
              </a:rPr>
              <a:t>MLflow tracking</a:t>
            </a:r>
          </a:p>
          <a:p>
            <a:pPr algn="l">
              <a:lnSpc>
                <a:spcPct val="130000"/>
              </a:lnSpc>
            </a:pPr>
            <a:r>
              <a:rPr sz="1800" b="1" i="0">
                <a:solidFill>
                  <a:srgbClr val="6D28D9"/>
                </a:solidFill>
                <a:latin typeface="Calibri"/>
              </a:rPr>
              <a:t>•  </a:t>
            </a:r>
            <a:r>
              <a:rPr sz="1800" b="0" i="0">
                <a:solidFill>
                  <a:srgbClr val="333340"/>
                </a:solidFill>
                <a:latin typeface="Calibri"/>
              </a:rPr>
              <a:t>FastAPI · Python 3.13 · uvicorn</a:t>
            </a:r>
          </a:p>
          <a:p>
            <a:pPr algn="l">
              <a:lnSpc>
                <a:spcPct val="130000"/>
              </a:lnSpc>
            </a:pPr>
            <a:r>
              <a:rPr sz="1800" b="1" i="0">
                <a:solidFill>
                  <a:srgbClr val="6D28D9"/>
                </a:solidFill>
                <a:latin typeface="Calibri"/>
              </a:rPr>
              <a:t>•  </a:t>
            </a:r>
            <a:r>
              <a:rPr sz="1800" b="0" i="0">
                <a:solidFill>
                  <a:srgbClr val="333340"/>
                </a:solidFill>
                <a:latin typeface="Calibri"/>
              </a:rPr>
              <a:t>Cloudflared (demo tunnel)</a:t>
            </a:r>
          </a:p>
          <a:p>
            <a:pPr algn="l">
              <a:lnSpc>
                <a:spcPct val="130000"/>
              </a:lnSpc>
            </a:pPr>
            <a:r>
              <a:rPr sz="1800" b="1" i="0">
                <a:solidFill>
                  <a:srgbClr val="6D28D9"/>
                </a:solidFill>
                <a:latin typeface="Calibri"/>
              </a:rPr>
              <a:t>•  </a:t>
            </a:r>
            <a:r>
              <a:rPr sz="1800" b="0" i="0">
                <a:solidFill>
                  <a:srgbClr val="333340"/>
                </a:solidFill>
                <a:latin typeface="Calibri"/>
              </a:rPr>
              <a:t>Postgres optional for write paths</a:t>
            </a:r>
          </a:p>
        </p:txBody>
      </p:sp>
      <p:sp>
        <p:nvSpPr>
          <p:cNvPr id="6" name="TextBox 5"/>
          <p:cNvSpPr txBox="1"/>
          <p:nvPr/>
        </p:nvSpPr>
        <p:spPr>
          <a:xfrm>
            <a:off x="6370167" y="1783080"/>
            <a:ext cx="5181447" cy="365760"/>
          </a:xfrm>
          <a:prstGeom prst="rect">
            <a:avLst/>
          </a:prstGeom>
          <a:noFill/>
        </p:spPr>
        <p:txBody>
          <a:bodyPr wrap="square" lIns="0" rIns="0" tIns="0" bIns="0" anchor="t">
            <a:spAutoFit/>
          </a:bodyPr>
          <a:lstStyle/>
          <a:p>
            <a:pPr algn="l"/>
            <a:r>
              <a:rPr sz="2200" b="1" i="0">
                <a:solidFill>
                  <a:srgbClr val="4C1D95"/>
                </a:solidFill>
                <a:latin typeface="Calibri"/>
              </a:rPr>
              <a:t>Client / Tooling</a:t>
            </a:r>
          </a:p>
        </p:txBody>
      </p:sp>
      <p:sp>
        <p:nvSpPr>
          <p:cNvPr id="7" name="TextBox 6"/>
          <p:cNvSpPr txBox="1"/>
          <p:nvPr/>
        </p:nvSpPr>
        <p:spPr>
          <a:xfrm>
            <a:off x="6553047" y="2286000"/>
            <a:ext cx="5181447" cy="3657600"/>
          </a:xfrm>
          <a:prstGeom prst="rect">
            <a:avLst/>
          </a:prstGeom>
          <a:noFill/>
        </p:spPr>
        <p:txBody>
          <a:bodyPr wrap="square" lIns="0" rIns="0" tIns="0" bIns="0" anchor="t">
            <a:spAutoFit/>
          </a:bodyPr>
          <a:lstStyle/>
          <a:p>
            <a:pPr algn="l">
              <a:lnSpc>
                <a:spcPct val="130000"/>
              </a:lnSpc>
            </a:pPr>
            <a:r>
              <a:rPr sz="1800" b="1" i="0">
                <a:solidFill>
                  <a:srgbClr val="6D28D9"/>
                </a:solidFill>
                <a:latin typeface="Calibri"/>
              </a:rPr>
              <a:t>•  </a:t>
            </a:r>
            <a:r>
              <a:rPr sz="1800" b="0" i="0">
                <a:solidFill>
                  <a:srgbClr val="333340"/>
                </a:solidFill>
                <a:latin typeface="Calibri"/>
              </a:rPr>
              <a:t>Native iOS · SwiftUI · iOS 17+</a:t>
            </a:r>
          </a:p>
          <a:p>
            <a:pPr algn="l">
              <a:lnSpc>
                <a:spcPct val="130000"/>
              </a:lnSpc>
            </a:pPr>
            <a:r>
              <a:rPr sz="1800" b="1" i="0">
                <a:solidFill>
                  <a:srgbClr val="6D28D9"/>
                </a:solidFill>
                <a:latin typeface="Calibri"/>
              </a:rPr>
              <a:t>•  </a:t>
            </a:r>
            <a:r>
              <a:rPr sz="1800" b="0" i="0">
                <a:solidFill>
                  <a:srgbClr val="333340"/>
                </a:solidFill>
                <a:latin typeface="Calibri"/>
              </a:rPr>
              <a:t>MapKit · MKPolygon overlays</a:t>
            </a:r>
          </a:p>
          <a:p>
            <a:pPr algn="l">
              <a:lnSpc>
                <a:spcPct val="130000"/>
              </a:lnSpc>
            </a:pPr>
            <a:r>
              <a:rPr sz="1800" b="1" i="0">
                <a:solidFill>
                  <a:srgbClr val="6D28D9"/>
                </a:solidFill>
                <a:latin typeface="Calibri"/>
              </a:rPr>
              <a:t>•  </a:t>
            </a:r>
            <a:r>
              <a:rPr sz="1800" b="0" i="0">
                <a:solidFill>
                  <a:srgbClr val="333340"/>
                </a:solidFill>
                <a:latin typeface="Calibri"/>
              </a:rPr>
              <a:t>Swift Charts for trend forecast</a:t>
            </a:r>
          </a:p>
          <a:p>
            <a:pPr algn="l">
              <a:lnSpc>
                <a:spcPct val="130000"/>
              </a:lnSpc>
            </a:pPr>
            <a:r>
              <a:rPr sz="1800" b="1" i="0">
                <a:solidFill>
                  <a:srgbClr val="6D28D9"/>
                </a:solidFill>
                <a:latin typeface="Calibri"/>
              </a:rPr>
              <a:t>•  </a:t>
            </a:r>
            <a:r>
              <a:rPr sz="1800" b="0" i="0">
                <a:solidFill>
                  <a:srgbClr val="333340"/>
                </a:solidFill>
                <a:latin typeface="Calibri"/>
              </a:rPr>
              <a:t>@Observable state · UserDefaults</a:t>
            </a:r>
          </a:p>
          <a:p>
            <a:pPr algn="l">
              <a:lnSpc>
                <a:spcPct val="130000"/>
              </a:lnSpc>
            </a:pPr>
            <a:r>
              <a:rPr sz="1800" b="1" i="0">
                <a:solidFill>
                  <a:srgbClr val="6D28D9"/>
                </a:solidFill>
                <a:latin typeface="Calibri"/>
              </a:rPr>
              <a:t>•  </a:t>
            </a:r>
            <a:r>
              <a:rPr sz="1800" b="0" i="0">
                <a:solidFill>
                  <a:srgbClr val="333340"/>
                </a:solidFill>
                <a:latin typeface="Calibri"/>
              </a:rPr>
              <a:t>XcodeGen for project generation</a:t>
            </a:r>
          </a:p>
          <a:p>
            <a:pPr algn="l">
              <a:lnSpc>
                <a:spcPct val="130000"/>
              </a:lnSpc>
            </a:pPr>
            <a:r>
              <a:rPr sz="1800" b="1" i="0">
                <a:solidFill>
                  <a:srgbClr val="6D28D9"/>
                </a:solidFill>
                <a:latin typeface="Calibri"/>
              </a:rPr>
              <a:t>•  </a:t>
            </a:r>
            <a:r>
              <a:rPr sz="1800" b="0" i="0">
                <a:solidFill>
                  <a:srgbClr val="333340"/>
                </a:solidFill>
                <a:latin typeface="Calibri"/>
              </a:rPr>
              <a:t>Zero third-party SDKs in the app</a:t>
            </a:r>
          </a:p>
        </p:txBody>
      </p:sp>
      <p:sp>
        <p:nvSpPr>
          <p:cNvPr id="8" name="TextBox 7"/>
          <p:cNvSpPr txBox="1"/>
          <p:nvPr/>
        </p:nvSpPr>
        <p:spPr>
          <a:xfrm>
            <a:off x="11094415" y="6492240"/>
            <a:ext cx="457200" cy="274320"/>
          </a:xfrm>
          <a:prstGeom prst="rect">
            <a:avLst/>
          </a:prstGeom>
          <a:noFill/>
        </p:spPr>
        <p:txBody>
          <a:bodyPr wrap="square" lIns="0" rIns="0" tIns="0" bIns="0" anchor="t">
            <a:spAutoFit/>
          </a:bodyPr>
          <a:lstStyle/>
          <a:p>
            <a:pPr algn="r"/>
            <a:r>
              <a:rPr sz="1000" b="0" i="1">
                <a:solidFill>
                  <a:srgbClr val="808090"/>
                </a:solidFill>
                <a:latin typeface="Calibri"/>
              </a:rPr>
              <a:t>-- 16 of 16 --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